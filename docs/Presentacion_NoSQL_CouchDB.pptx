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9" roundtripDataSignature="AMtx7miWrQhLFgzkNOl8vFRuwWX9nx0E4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customschemas.google.com/relationships/presentationmetadata" Target="metadata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" name="Google Shape;2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" name="Google Shape;59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" name="Google Shape;10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2" name="Google Shape;14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8" name="Google Shape;16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0" name="Google Shape;18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7" name="Google Shape;217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1" name="Google Shape;291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0" name="Google Shape;310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0F2E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00D9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0" y="6693408"/>
            <a:ext cx="12161520" cy="16459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731520" y="9144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D9FF"/>
                </a:solidFill>
                <a:latin typeface="Calibri"/>
                <a:ea typeface="Calibri"/>
                <a:cs typeface="Calibri"/>
                <a:sym typeface="Calibri"/>
              </a:rPr>
              <a:t>PROYECTO ABP — UT4 ACCESO A DATOS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731520" y="1554480"/>
            <a:ext cx="109728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00"/>
              <a:buFont typeface="Calibri"/>
              <a:buNone/>
            </a:pPr>
            <a:r>
              <a:rPr b="1" i="0" lang="en-US" sz="7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Desafío NoSQL</a:t>
            </a:r>
            <a:endParaRPr b="0" i="0" sz="7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731520" y="2743200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5CF6"/>
              </a:buClr>
              <a:buSzPts val="4000"/>
              <a:buFont typeface="Calibri"/>
              <a:buNone/>
            </a:pPr>
            <a:r>
              <a:rPr b="0" i="0" lang="en-US" sz="40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CouchDB + Flutter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731520" y="3657600"/>
            <a:ext cx="137160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1"/>
          <p:cNvSpPr/>
          <p:nvPr/>
        </p:nvSpPr>
        <p:spPr>
          <a:xfrm>
            <a:off x="731520" y="3840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A8E8"/>
              </a:buClr>
              <a:buSzPts val="2200"/>
              <a:buFont typeface="Calibri"/>
              <a:buNone/>
            </a:pPr>
            <a:r>
              <a:rPr b="0" i="1" lang="en-US" sz="2200" u="none" cap="none" strike="noStrike">
                <a:solidFill>
                  <a:srgbClr val="B8A8E8"/>
                </a:solidFill>
                <a:latin typeface="Calibri"/>
                <a:ea typeface="Calibri"/>
                <a:cs typeface="Calibri"/>
                <a:sym typeface="Calibri"/>
              </a:rPr>
              <a:t>Registro Oficial de Excusas de Mancos y Ragequits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731520" y="512064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A8E8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B8A8E8"/>
                </a:solidFill>
                <a:latin typeface="Calibri"/>
                <a:ea typeface="Calibri"/>
                <a:cs typeface="Calibri"/>
                <a:sym typeface="Calibri"/>
              </a:rPr>
              <a:t>Presentado por  </a:t>
            </a:r>
            <a:r>
              <a:rPr b="1" i="0" lang="en-US" sz="2200" u="none" cap="none" strike="noStrike">
                <a:solidFill>
                  <a:srgbClr val="00D9FF"/>
                </a:solidFill>
                <a:latin typeface="Calibri"/>
                <a:ea typeface="Calibri"/>
                <a:cs typeface="Calibri"/>
                <a:sym typeface="Calibri"/>
              </a:rPr>
              <a:t>David </a:t>
            </a:r>
            <a:r>
              <a:rPr b="0" i="0" lang="en-US" sz="1800" u="none" cap="none" strike="noStrike">
                <a:solidFill>
                  <a:srgbClr val="B8A8E8"/>
                </a:solidFill>
                <a:latin typeface="Calibri"/>
                <a:ea typeface="Calibri"/>
                <a:cs typeface="Calibri"/>
                <a:sym typeface="Calibri"/>
              </a:rPr>
              <a:t>&amp;  </a:t>
            </a:r>
            <a:r>
              <a:rPr b="1" i="0" lang="en-US" sz="2200" u="none" cap="none" strike="noStrike">
                <a:solidFill>
                  <a:srgbClr val="00D9FF"/>
                </a:solidFill>
                <a:latin typeface="Calibri"/>
                <a:ea typeface="Calibri"/>
                <a:cs typeface="Calibri"/>
                <a:sym typeface="Calibri"/>
              </a:rPr>
              <a:t>Ancor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731520" y="566928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58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B6580"/>
                </a:solidFill>
                <a:latin typeface="Calibri"/>
                <a:ea typeface="Calibri"/>
                <a:cs typeface="Calibri"/>
                <a:sym typeface="Calibri"/>
              </a:rPr>
              <a:t>CIFP Villa de Agüimes  ·  2º DAM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2FF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"/>
          <p:cNvSpPr/>
          <p:nvPr/>
        </p:nvSpPr>
        <p:spPr>
          <a:xfrm>
            <a:off x="11064240" y="274320"/>
            <a:ext cx="822960" cy="292608"/>
          </a:xfrm>
          <a:prstGeom prst="roundRect">
            <a:avLst>
              <a:gd fmla="val 50000" name="adj"/>
            </a:avLst>
          </a:prstGeom>
          <a:solidFill>
            <a:srgbClr val="1A0F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11064240" y="274320"/>
            <a:ext cx="822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 / 14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0F2E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1A0F2E"/>
                </a:solidFill>
                <a:latin typeface="Calibri"/>
                <a:ea typeface="Calibri"/>
                <a:cs typeface="Calibri"/>
                <a:sym typeface="Calibri"/>
              </a:rPr>
              <a:t>Hoja de ruta · 12 minutos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525780" y="1645920"/>
            <a:ext cx="2606040" cy="4114800"/>
          </a:xfrm>
          <a:prstGeom prst="roundRect">
            <a:avLst>
              <a:gd fmla="val 4211" name="adj"/>
            </a:avLst>
          </a:prstGeom>
          <a:solidFill>
            <a:srgbClr val="FFFFFF"/>
          </a:solidFill>
          <a:ln cap="flat" cmpd="sng" w="12700">
            <a:solidFill>
              <a:srgbClr val="E0DD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25780" y="1645920"/>
            <a:ext cx="2606040" cy="548640"/>
          </a:xfrm>
          <a:prstGeom prst="rect">
            <a:avLst/>
          </a:prstGeom>
          <a:solidFill>
            <a:srgbClr val="00D9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525780" y="1691640"/>
            <a:ext cx="2606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708660" y="2560320"/>
            <a:ext cx="2240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0F2E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1A0F2E"/>
                </a:solidFill>
                <a:latin typeface="Calibri"/>
                <a:ea typeface="Calibri"/>
                <a:cs typeface="Calibri"/>
                <a:sym typeface="Calibri"/>
              </a:rPr>
              <a:t>El Por Qué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1097280" y="3474720"/>
            <a:ext cx="1463040" cy="457200"/>
          </a:xfrm>
          <a:prstGeom prst="roundRect">
            <a:avLst>
              <a:gd fmla="val 50000" name="adj"/>
            </a:avLst>
          </a:prstGeom>
          <a:solidFill>
            <a:srgbClr val="F5F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1097280" y="3474720"/>
            <a:ext cx="1463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D9FF"/>
                </a:solidFill>
                <a:latin typeface="Calibri"/>
                <a:ea typeface="Calibri"/>
                <a:cs typeface="Calibri"/>
                <a:sym typeface="Calibri"/>
              </a:rPr>
              <a:t>2 min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3360420" y="1645920"/>
            <a:ext cx="2606040" cy="4114800"/>
          </a:xfrm>
          <a:prstGeom prst="roundRect">
            <a:avLst>
              <a:gd fmla="val 4211" name="adj"/>
            </a:avLst>
          </a:prstGeom>
          <a:solidFill>
            <a:srgbClr val="FFFFFF"/>
          </a:solidFill>
          <a:ln cap="flat" cmpd="sng" w="12700">
            <a:solidFill>
              <a:srgbClr val="E0DD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3360420" y="1645920"/>
            <a:ext cx="2606040" cy="548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3360420" y="1691640"/>
            <a:ext cx="2606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3543300" y="2560320"/>
            <a:ext cx="2240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0F2E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1A0F2E"/>
                </a:solidFill>
                <a:latin typeface="Calibri"/>
                <a:ea typeface="Calibri"/>
                <a:cs typeface="Calibri"/>
                <a:sym typeface="Calibri"/>
              </a:rPr>
              <a:t>El Modelo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3931920" y="3474720"/>
            <a:ext cx="1463040" cy="457200"/>
          </a:xfrm>
          <a:prstGeom prst="roundRect">
            <a:avLst>
              <a:gd fmla="val 50000" name="adj"/>
            </a:avLst>
          </a:prstGeom>
          <a:solidFill>
            <a:srgbClr val="F5F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3931920" y="3474720"/>
            <a:ext cx="1463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5CF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2 min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6195060" y="1645920"/>
            <a:ext cx="2606040" cy="4114800"/>
          </a:xfrm>
          <a:prstGeom prst="roundRect">
            <a:avLst>
              <a:gd fmla="val 4211" name="adj"/>
            </a:avLst>
          </a:prstGeom>
          <a:solidFill>
            <a:srgbClr val="FFFFFF"/>
          </a:solidFill>
          <a:ln cap="flat" cmpd="sng" w="12700">
            <a:solidFill>
              <a:srgbClr val="E0DD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6195060" y="1645920"/>
            <a:ext cx="2606040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6195060" y="1691640"/>
            <a:ext cx="2606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6377940" y="2560320"/>
            <a:ext cx="2240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0F2E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1A0F2E"/>
                </a:solidFill>
                <a:latin typeface="Calibri"/>
                <a:ea typeface="Calibri"/>
                <a:cs typeface="Calibri"/>
                <a:sym typeface="Calibri"/>
              </a:rPr>
              <a:t>Demo en vivo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6766560" y="3474720"/>
            <a:ext cx="1463040" cy="457200"/>
          </a:xfrm>
          <a:prstGeom prst="roundRect">
            <a:avLst>
              <a:gd fmla="val 50000" name="adj"/>
            </a:avLst>
          </a:prstGeom>
          <a:solidFill>
            <a:srgbClr val="F5F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6766560" y="3474720"/>
            <a:ext cx="1463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6B35"/>
                </a:solidFill>
                <a:latin typeface="Calibri"/>
                <a:ea typeface="Calibri"/>
                <a:cs typeface="Calibri"/>
                <a:sym typeface="Calibri"/>
              </a:rPr>
              <a:t>5 min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9029700" y="1645920"/>
            <a:ext cx="2606040" cy="4114800"/>
          </a:xfrm>
          <a:prstGeom prst="roundRect">
            <a:avLst>
              <a:gd fmla="val 4211" name="adj"/>
            </a:avLst>
          </a:prstGeom>
          <a:solidFill>
            <a:srgbClr val="FFFFFF"/>
          </a:solidFill>
          <a:ln cap="flat" cmpd="sng" w="12700">
            <a:solidFill>
              <a:srgbClr val="E0DD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9029700" y="1645920"/>
            <a:ext cx="2606040" cy="548640"/>
          </a:xfrm>
          <a:prstGeom prst="rect">
            <a:avLst/>
          </a:prstGeom>
          <a:solidFill>
            <a:srgbClr val="1A0F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2"/>
          <p:cNvSpPr/>
          <p:nvPr/>
        </p:nvSpPr>
        <p:spPr>
          <a:xfrm>
            <a:off x="9029700" y="1691640"/>
            <a:ext cx="2606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9212580" y="2560320"/>
            <a:ext cx="2240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0F2E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1A0F2E"/>
                </a:solidFill>
                <a:latin typeface="Calibri"/>
                <a:ea typeface="Calibri"/>
                <a:cs typeface="Calibri"/>
                <a:sym typeface="Calibri"/>
              </a:rPr>
              <a:t>Conclusiones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9601200" y="3474720"/>
            <a:ext cx="1463040" cy="457200"/>
          </a:xfrm>
          <a:prstGeom prst="roundRect">
            <a:avLst>
              <a:gd fmla="val 50000" name="adj"/>
            </a:avLst>
          </a:prstGeom>
          <a:solidFill>
            <a:srgbClr val="F5F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2"/>
          <p:cNvSpPr/>
          <p:nvPr/>
        </p:nvSpPr>
        <p:spPr>
          <a:xfrm>
            <a:off x="9601200" y="3474720"/>
            <a:ext cx="1463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0F2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A0F2E"/>
                </a:solidFill>
                <a:latin typeface="Calibri"/>
                <a:ea typeface="Calibri"/>
                <a:cs typeface="Calibri"/>
                <a:sym typeface="Calibri"/>
              </a:rPr>
              <a:t>3 min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0F2E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"/>
          <p:cNvSpPr/>
          <p:nvPr/>
        </p:nvSpPr>
        <p:spPr>
          <a:xfrm>
            <a:off x="11064240" y="274320"/>
            <a:ext cx="822960" cy="292608"/>
          </a:xfrm>
          <a:prstGeom prst="roundRect">
            <a:avLst>
              <a:gd fmla="val 50000" name="adj"/>
            </a:avLst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3"/>
          <p:cNvSpPr/>
          <p:nvPr/>
        </p:nvSpPr>
        <p:spPr>
          <a:xfrm>
            <a:off x="11064240" y="274320"/>
            <a:ext cx="822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 / 14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548640" y="365760"/>
            <a:ext cx="457200" cy="457200"/>
          </a:xfrm>
          <a:prstGeom prst="ellipse">
            <a:avLst/>
          </a:prstGeom>
          <a:solidFill>
            <a:srgbClr val="00D9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3"/>
          <p:cNvSpPr/>
          <p:nvPr/>
        </p:nvSpPr>
        <p:spPr>
          <a:xfrm>
            <a:off x="548640" y="3657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1188720" y="36576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D9FF"/>
                </a:solidFill>
                <a:latin typeface="Calibri"/>
                <a:ea typeface="Calibri"/>
                <a:cs typeface="Calibri"/>
                <a:sym typeface="Calibri"/>
              </a:rPr>
              <a:t>Bloque 1 · El Por Qué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731520" y="10972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A8E8"/>
              </a:buClr>
              <a:buSzPts val="2800"/>
              <a:buFont typeface="Calibri"/>
              <a:buNone/>
            </a:pPr>
            <a:r>
              <a:rPr b="0" i="0" lang="en-US" sz="2800" u="none" cap="none" strike="noStrike">
                <a:solidFill>
                  <a:srgbClr val="B8A8E8"/>
                </a:solidFill>
                <a:latin typeface="Calibri"/>
                <a:ea typeface="Calibri"/>
                <a:cs typeface="Calibri"/>
                <a:sym typeface="Calibri"/>
              </a:rPr>
              <a:t>CouchDB en una palabra: 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731520" y="1737360"/>
            <a:ext cx="109728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9600"/>
              <a:buFont typeface="Calibri"/>
              <a:buNone/>
            </a:pPr>
            <a:r>
              <a:rPr b="1" i="1" lang="en-US" sz="9600" u="none" cap="none" strike="noStrike">
                <a:solidFill>
                  <a:srgbClr val="00D9FF"/>
                </a:solidFill>
                <a:latin typeface="Calibri"/>
                <a:ea typeface="Calibri"/>
                <a:cs typeface="Calibri"/>
                <a:sym typeface="Calibri"/>
              </a:rPr>
              <a:t>Relax.</a:t>
            </a:r>
            <a:endParaRPr b="0" i="0" sz="9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365760" y="3931920"/>
            <a:ext cx="3566160" cy="2468880"/>
          </a:xfrm>
          <a:prstGeom prst="roundRect">
            <a:avLst>
              <a:gd fmla="val 3704" name="adj"/>
            </a:avLst>
          </a:prstGeom>
          <a:solidFill>
            <a:srgbClr val="2A1B4A"/>
          </a:solidFill>
          <a:ln cap="flat" cmpd="sng" w="127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3"/>
          <p:cNvSpPr/>
          <p:nvPr/>
        </p:nvSpPr>
        <p:spPr>
          <a:xfrm>
            <a:off x="365760" y="411480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00D9FF"/>
                </a:solidFill>
                <a:latin typeface="Calibri"/>
                <a:ea typeface="Calibri"/>
                <a:cs typeface="Calibri"/>
                <a:sym typeface="Calibri"/>
              </a:rPr>
              <a:t>{ }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548640" y="4846320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Documentos JSON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640080" y="5349240"/>
            <a:ext cx="30175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A8E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B8A8E8"/>
                </a:solidFill>
                <a:latin typeface="Calibri"/>
                <a:ea typeface="Calibri"/>
                <a:cs typeface="Calibri"/>
                <a:sym typeface="Calibri"/>
              </a:rPr>
              <a:t>Cada dato es un objeto JSON autocontenido. Sin tablas, sin esquema rígido.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4297680" y="3931920"/>
            <a:ext cx="3566160" cy="2468880"/>
          </a:xfrm>
          <a:prstGeom prst="roundRect">
            <a:avLst>
              <a:gd fmla="val 3704" name="adj"/>
            </a:avLst>
          </a:prstGeom>
          <a:solidFill>
            <a:srgbClr val="2A1B4A"/>
          </a:solidFill>
          <a:ln cap="flat" cmpd="sng" w="127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3"/>
          <p:cNvSpPr/>
          <p:nvPr/>
        </p:nvSpPr>
        <p:spPr>
          <a:xfrm>
            <a:off x="4297680" y="411480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00D9FF"/>
                </a:solidFill>
                <a:latin typeface="Calibri"/>
                <a:ea typeface="Calibri"/>
                <a:cs typeface="Calibri"/>
                <a:sym typeface="Calibri"/>
              </a:rPr>
              <a:t>↔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4480560" y="4846320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Replicación nativa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4572000" y="5349240"/>
            <a:ext cx="30175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A8E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B8A8E8"/>
                </a:solidFill>
                <a:latin typeface="Calibri"/>
                <a:ea typeface="Calibri"/>
                <a:cs typeface="Calibri"/>
                <a:sym typeface="Calibri"/>
              </a:rPr>
              <a:t>Sincronización bidireccional entre nodos. Trabajo offline real.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8229600" y="3931920"/>
            <a:ext cx="3566160" cy="2468880"/>
          </a:xfrm>
          <a:prstGeom prst="roundRect">
            <a:avLst>
              <a:gd fmla="val 3704" name="adj"/>
            </a:avLst>
          </a:prstGeom>
          <a:solidFill>
            <a:srgbClr val="2A1B4A"/>
          </a:solidFill>
          <a:ln cap="flat" cmpd="sng" w="127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3"/>
          <p:cNvSpPr/>
          <p:nvPr/>
        </p:nvSpPr>
        <p:spPr>
          <a:xfrm>
            <a:off x="8229600" y="411480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00D9FF"/>
                </a:solidFill>
                <a:latin typeface="Calibri"/>
                <a:ea typeface="Calibri"/>
                <a:cs typeface="Calibri"/>
                <a:sym typeface="Calibri"/>
              </a:rPr>
              <a:t>HTTP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8412480" y="4846320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API REST pura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3"/>
          <p:cNvSpPr/>
          <p:nvPr/>
        </p:nvSpPr>
        <p:spPr>
          <a:xfrm>
            <a:off x="8503920" y="5349240"/>
            <a:ext cx="30175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A8E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B8A8E8"/>
                </a:solidFill>
                <a:latin typeface="Calibri"/>
                <a:ea typeface="Calibri"/>
                <a:cs typeface="Calibri"/>
                <a:sym typeface="Calibri"/>
              </a:rPr>
              <a:t>Toda interacción es HTTP. Compatible con cualquier cliente moderno.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2FF"/>
        </a:solid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4"/>
          <p:cNvSpPr/>
          <p:nvPr/>
        </p:nvSpPr>
        <p:spPr>
          <a:xfrm>
            <a:off x="11064240" y="274320"/>
            <a:ext cx="822960" cy="292608"/>
          </a:xfrm>
          <a:prstGeom prst="roundRect">
            <a:avLst>
              <a:gd fmla="val 50000" name="adj"/>
            </a:avLst>
          </a:prstGeom>
          <a:solidFill>
            <a:srgbClr val="1A0F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4"/>
          <p:cNvSpPr/>
          <p:nvPr/>
        </p:nvSpPr>
        <p:spPr>
          <a:xfrm>
            <a:off x="11064240" y="274320"/>
            <a:ext cx="822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 / 14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548640" y="365760"/>
            <a:ext cx="457200" cy="457200"/>
          </a:xfrm>
          <a:prstGeom prst="ellipse">
            <a:avLst/>
          </a:prstGeom>
          <a:solidFill>
            <a:srgbClr val="00D9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4"/>
          <p:cNvSpPr/>
          <p:nvPr/>
        </p:nvSpPr>
        <p:spPr>
          <a:xfrm>
            <a:off x="548640" y="3657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4"/>
          <p:cNvSpPr/>
          <p:nvPr/>
        </p:nvSpPr>
        <p:spPr>
          <a:xfrm>
            <a:off x="1188720" y="36576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5CF6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Bloque 1 · Teorema CAP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4"/>
          <p:cNvSpPr/>
          <p:nvPr/>
        </p:nvSpPr>
        <p:spPr>
          <a:xfrm>
            <a:off x="731520" y="91440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0F2E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1A0F2E"/>
                </a:solidFill>
                <a:latin typeface="Calibri"/>
                <a:ea typeface="Calibri"/>
                <a:cs typeface="Calibri"/>
                <a:sym typeface="Calibri"/>
              </a:rPr>
              <a:t>CouchDB elige Disponibilidad y Tolerancia a Particiones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731520" y="169164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580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6B6580"/>
                </a:solidFill>
                <a:latin typeface="Calibri"/>
                <a:ea typeface="Calibri"/>
                <a:cs typeface="Calibri"/>
                <a:sym typeface="Calibri"/>
              </a:rPr>
              <a:t>"De las tres garantías clásicas, en un sistema distribuido solo se pueden tener dos al mismo tiempo."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3246120" y="2560320"/>
            <a:ext cx="1371600" cy="1371600"/>
          </a:xfrm>
          <a:prstGeom prst="ellipse">
            <a:avLst/>
          </a:prstGeom>
          <a:solidFill>
            <a:srgbClr val="E5E5E5"/>
          </a:solidFill>
          <a:ln cap="flat" cmpd="sng" w="2540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4"/>
          <p:cNvSpPr/>
          <p:nvPr/>
        </p:nvSpPr>
        <p:spPr>
          <a:xfrm>
            <a:off x="3246120" y="2560320"/>
            <a:ext cx="13716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999999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99999"/>
                </a:solidFill>
                <a:latin typeface="Calibri"/>
                <a:ea typeface="Calibri"/>
                <a:cs typeface="Calibri"/>
                <a:sym typeface="Calibri"/>
              </a:rPr>
              <a:t>Consistencia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1691640" y="4389120"/>
            <a:ext cx="1371600" cy="1371600"/>
          </a:xfrm>
          <a:prstGeom prst="ellipse">
            <a:avLst/>
          </a:prstGeom>
          <a:solidFill>
            <a:srgbClr val="00D9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4"/>
          <p:cNvSpPr/>
          <p:nvPr/>
        </p:nvSpPr>
        <p:spPr>
          <a:xfrm>
            <a:off x="1691640" y="4389120"/>
            <a:ext cx="13716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Disponibilidad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4"/>
          <p:cNvSpPr/>
          <p:nvPr/>
        </p:nvSpPr>
        <p:spPr>
          <a:xfrm>
            <a:off x="4800600" y="4389120"/>
            <a:ext cx="1371600" cy="13716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4"/>
          <p:cNvSpPr/>
          <p:nvPr/>
        </p:nvSpPr>
        <p:spPr>
          <a:xfrm>
            <a:off x="4800600" y="4389120"/>
            <a:ext cx="13716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Particiones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4"/>
          <p:cNvSpPr/>
          <p:nvPr/>
        </p:nvSpPr>
        <p:spPr>
          <a:xfrm>
            <a:off x="3017520" y="5897880"/>
            <a:ext cx="1828800" cy="502920"/>
          </a:xfrm>
          <a:prstGeom prst="roundRect">
            <a:avLst>
              <a:gd fmla="val 49091" name="adj"/>
            </a:avLst>
          </a:prstGeom>
          <a:solidFill>
            <a:srgbClr val="FF6B3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4"/>
          <p:cNvSpPr/>
          <p:nvPr/>
        </p:nvSpPr>
        <p:spPr>
          <a:xfrm>
            <a:off x="3017520" y="589788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CouchDB = AP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4"/>
          <p:cNvSpPr/>
          <p:nvPr/>
        </p:nvSpPr>
        <p:spPr>
          <a:xfrm>
            <a:off x="7498080" y="2377440"/>
            <a:ext cx="4023360" cy="3657600"/>
          </a:xfrm>
          <a:prstGeom prst="roundRect">
            <a:avLst>
              <a:gd fmla="val 2500" name="adj"/>
            </a:avLst>
          </a:prstGeom>
          <a:solidFill>
            <a:srgbClr val="FFFFFF"/>
          </a:solidFill>
          <a:ln cap="flat" cmpd="sng" w="127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4"/>
          <p:cNvSpPr/>
          <p:nvPr/>
        </p:nvSpPr>
        <p:spPr>
          <a:xfrm>
            <a:off x="7680960" y="256032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0F2E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A0F2E"/>
                </a:solidFill>
                <a:latin typeface="Calibri"/>
                <a:ea typeface="Calibri"/>
                <a:cs typeface="Calibri"/>
                <a:sym typeface="Calibri"/>
              </a:rPr>
              <a:t>Consistencia eventual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4"/>
          <p:cNvSpPr/>
          <p:nvPr/>
        </p:nvSpPr>
        <p:spPr>
          <a:xfrm>
            <a:off x="7680960" y="3108960"/>
            <a:ext cx="3657600" cy="2834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0F2E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A0F2E"/>
                </a:solidFill>
                <a:latin typeface="Calibri"/>
                <a:ea typeface="Calibri"/>
                <a:cs typeface="Calibri"/>
                <a:sym typeface="Calibri"/>
              </a:rPr>
              <a:t>El sistema sigue respondiendo aunque haya fallos de red.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0F2E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A0F2E"/>
                </a:solidFill>
                <a:latin typeface="Calibri"/>
                <a:ea typeface="Calibri"/>
                <a:cs typeface="Calibri"/>
                <a:sym typeface="Calibri"/>
              </a:rPr>
              <a:t>Tras una partición, los nodos sincronizan sus cambios y, si dos clientes han escrito a la vez, CouchDB conserva ambas versiones marcando una como ganadora y la otra como conflicto.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6B35"/>
                </a:solidFill>
                <a:latin typeface="Calibri"/>
                <a:ea typeface="Calibri"/>
                <a:cs typeface="Calibri"/>
                <a:sym typeface="Calibri"/>
              </a:rPr>
              <a:t>→ Pensado para apps offline-first.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0F2E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5"/>
          <p:cNvSpPr/>
          <p:nvPr/>
        </p:nvSpPr>
        <p:spPr>
          <a:xfrm>
            <a:off x="11064240" y="274320"/>
            <a:ext cx="822960" cy="292608"/>
          </a:xfrm>
          <a:prstGeom prst="roundRect">
            <a:avLst>
              <a:gd fmla="val 50000" name="adj"/>
            </a:avLst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5"/>
          <p:cNvSpPr/>
          <p:nvPr/>
        </p:nvSpPr>
        <p:spPr>
          <a:xfrm>
            <a:off x="11064240" y="274320"/>
            <a:ext cx="822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 / 14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5"/>
          <p:cNvSpPr/>
          <p:nvPr/>
        </p:nvSpPr>
        <p:spPr>
          <a:xfrm>
            <a:off x="548640" y="365760"/>
            <a:ext cx="457200" cy="457200"/>
          </a:xfrm>
          <a:prstGeom prst="ellipse">
            <a:avLst/>
          </a:prstGeom>
          <a:solidFill>
            <a:srgbClr val="00D9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5"/>
          <p:cNvSpPr/>
          <p:nvPr/>
        </p:nvSpPr>
        <p:spPr>
          <a:xfrm>
            <a:off x="548640" y="3657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5"/>
          <p:cNvSpPr/>
          <p:nvPr/>
        </p:nvSpPr>
        <p:spPr>
          <a:xfrm>
            <a:off x="1188720" y="36576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D9FF"/>
                </a:solidFill>
                <a:latin typeface="Calibri"/>
                <a:ea typeface="Calibri"/>
                <a:cs typeface="Calibri"/>
                <a:sym typeface="Calibri"/>
              </a:rPr>
              <a:t>Bloque 1 · Caso de uso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5"/>
          <p:cNvSpPr/>
          <p:nvPr/>
        </p:nvSpPr>
        <p:spPr>
          <a:xfrm>
            <a:off x="731520" y="1005840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¿Por qué CouchDB y no MySQL?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5"/>
          <p:cNvSpPr/>
          <p:nvPr/>
        </p:nvSpPr>
        <p:spPr>
          <a:xfrm>
            <a:off x="548640" y="2103120"/>
            <a:ext cx="5303520" cy="4023360"/>
          </a:xfrm>
          <a:prstGeom prst="roundRect">
            <a:avLst>
              <a:gd fmla="val 2727" name="adj"/>
            </a:avLst>
          </a:prstGeom>
          <a:solidFill>
            <a:srgbClr val="2A1B4A"/>
          </a:solidFill>
          <a:ln cap="flat" cmpd="sng" w="25400">
            <a:solidFill>
              <a:srgbClr val="8B7B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5"/>
          <p:cNvSpPr/>
          <p:nvPr/>
        </p:nvSpPr>
        <p:spPr>
          <a:xfrm>
            <a:off x="548640" y="2103120"/>
            <a:ext cx="5303520" cy="640080"/>
          </a:xfrm>
          <a:prstGeom prst="rect">
            <a:avLst/>
          </a:prstGeom>
          <a:solidFill>
            <a:srgbClr val="8B7B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"/>
          <p:cNvSpPr/>
          <p:nvPr/>
        </p:nvSpPr>
        <p:spPr>
          <a:xfrm>
            <a:off x="548640" y="210312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MySQL (relacional)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5"/>
          <p:cNvSpPr/>
          <p:nvPr/>
        </p:nvSpPr>
        <p:spPr>
          <a:xfrm>
            <a:off x="914400" y="2971800"/>
            <a:ext cx="4663440" cy="3017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Esquema rígido: todas las filas tienen las mismas columnas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Migraciones costosas para añadir un campo nuevo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Forzar incidentes heterogéneos a una tabla común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Joins necesarios para datos relacionados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5"/>
          <p:cNvSpPr/>
          <p:nvPr/>
        </p:nvSpPr>
        <p:spPr>
          <a:xfrm>
            <a:off x="6309360" y="2103120"/>
            <a:ext cx="5303520" cy="4023360"/>
          </a:xfrm>
          <a:prstGeom prst="roundRect">
            <a:avLst>
              <a:gd fmla="val 2727" name="adj"/>
            </a:avLst>
          </a:prstGeom>
          <a:solidFill>
            <a:srgbClr val="2A1B4A"/>
          </a:solidFill>
          <a:ln cap="flat" cmpd="sng" w="25400">
            <a:solidFill>
              <a:srgbClr val="00D9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5"/>
          <p:cNvSpPr/>
          <p:nvPr/>
        </p:nvSpPr>
        <p:spPr>
          <a:xfrm>
            <a:off x="6309360" y="2103120"/>
            <a:ext cx="5303520" cy="640080"/>
          </a:xfrm>
          <a:prstGeom prst="rect">
            <a:avLst/>
          </a:prstGeom>
          <a:solidFill>
            <a:srgbClr val="00D9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"/>
          <p:cNvSpPr/>
          <p:nvPr/>
        </p:nvSpPr>
        <p:spPr>
          <a:xfrm>
            <a:off x="6309360" y="210312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0F2E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1A0F2E"/>
                </a:solidFill>
                <a:latin typeface="Calibri"/>
                <a:ea typeface="Calibri"/>
                <a:cs typeface="Calibri"/>
                <a:sym typeface="Calibri"/>
              </a:rPr>
              <a:t>CouchDB (documental)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5"/>
          <p:cNvSpPr/>
          <p:nvPr/>
        </p:nvSpPr>
        <p:spPr>
          <a:xfrm>
            <a:off x="6675120" y="2971800"/>
            <a:ext cx="4663440" cy="3017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Cada documento JSON tiene los campos que necesita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Añadir un campo: simplemente se añade, sin migración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Cada manco es radicalmente distinto del anterior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Datos relacionados embebidos en el propio documento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2FF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"/>
          <p:cNvSpPr/>
          <p:nvPr/>
        </p:nvSpPr>
        <p:spPr>
          <a:xfrm>
            <a:off x="11064240" y="274320"/>
            <a:ext cx="822960" cy="292608"/>
          </a:xfrm>
          <a:prstGeom prst="roundRect">
            <a:avLst>
              <a:gd fmla="val 50000" name="adj"/>
            </a:avLst>
          </a:prstGeom>
          <a:solidFill>
            <a:srgbClr val="1A0F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"/>
          <p:cNvSpPr/>
          <p:nvPr/>
        </p:nvSpPr>
        <p:spPr>
          <a:xfrm>
            <a:off x="11064240" y="274320"/>
            <a:ext cx="822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 / 14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6"/>
          <p:cNvSpPr/>
          <p:nvPr/>
        </p:nvSpPr>
        <p:spPr>
          <a:xfrm>
            <a:off x="548640" y="365760"/>
            <a:ext cx="457200" cy="4572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"/>
          <p:cNvSpPr/>
          <p:nvPr/>
        </p:nvSpPr>
        <p:spPr>
          <a:xfrm>
            <a:off x="548640" y="3657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1188720" y="36576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5CF6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Bloque 2 · El Modelo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731520" y="91440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0F2E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1A0F2E"/>
                </a:solidFill>
                <a:latin typeface="Calibri"/>
                <a:ea typeface="Calibri"/>
                <a:cs typeface="Calibri"/>
                <a:sym typeface="Calibri"/>
              </a:rPr>
              <a:t>Un manco = un documento JSON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731520" y="164592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580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6B6580"/>
                </a:solidFill>
                <a:latin typeface="Calibri"/>
                <a:ea typeface="Calibri"/>
                <a:cs typeface="Calibri"/>
                <a:sym typeface="Calibri"/>
              </a:rPr>
              <a:t>Sin normalizar. Sin tablas. Todo lo que define al incidente vive en un único documento.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731520" y="2194560"/>
            <a:ext cx="6858000" cy="4297680"/>
          </a:xfrm>
          <a:prstGeom prst="roundRect">
            <a:avLst>
              <a:gd fmla="val 1702" name="adj"/>
            </a:avLst>
          </a:prstGeom>
          <a:solidFill>
            <a:srgbClr val="1A0F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6"/>
          <p:cNvSpPr/>
          <p:nvPr/>
        </p:nvSpPr>
        <p:spPr>
          <a:xfrm>
            <a:off x="914400" y="2331720"/>
            <a:ext cx="649224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"_id": "manco_007",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"_rev": "1-a3f...",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"gamertag": "HitBoxDenier",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"juego_jugado": "Elden Ring",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"plataforma": "PC",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"nivel_de_rageo": 10,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"excusa_ridicula": "Malenia tiene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                  hitboxes inventadas",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"perifericos_destruidos": [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   "mando Xbox Elite",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   "monitor 144Hz"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],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"ping_falso_alegado": 0,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"ping_real": 0,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"reincidente": true,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"coste_estimado_destrozos_eur": 420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7955280" y="2194560"/>
            <a:ext cx="3566160" cy="4297680"/>
          </a:xfrm>
          <a:prstGeom prst="roundRect">
            <a:avLst>
              <a:gd fmla="val 2564" name="adj"/>
            </a:avLst>
          </a:prstGeom>
          <a:solidFill>
            <a:srgbClr val="FFFFFF"/>
          </a:solidFill>
          <a:ln cap="flat" cmpd="sng" w="127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6"/>
          <p:cNvSpPr/>
          <p:nvPr/>
        </p:nvSpPr>
        <p:spPr>
          <a:xfrm>
            <a:off x="8138160" y="2377440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0F2E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A0F2E"/>
                </a:solidFill>
                <a:latin typeface="Calibri"/>
                <a:ea typeface="Calibri"/>
                <a:cs typeface="Calibri"/>
                <a:sym typeface="Calibri"/>
              </a:rPr>
              <a:t>Campos clave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6"/>
          <p:cNvSpPr/>
          <p:nvPr/>
        </p:nvSpPr>
        <p:spPr>
          <a:xfrm>
            <a:off x="8138160" y="2926080"/>
            <a:ext cx="320040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600"/>
              <a:buFont typeface="Consolas"/>
              <a:buNone/>
            </a:pPr>
            <a:r>
              <a:rPr b="1" i="0" lang="en-US" sz="1600" u="none" cap="none" strike="noStrike">
                <a:solidFill>
                  <a:srgbClr val="FF6B35"/>
                </a:solidFill>
                <a:latin typeface="Consolas"/>
                <a:ea typeface="Consolas"/>
                <a:cs typeface="Consolas"/>
                <a:sym typeface="Consolas"/>
              </a:rPr>
              <a:t>_id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1A0F2E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0F2E"/>
                </a:solidFill>
                <a:latin typeface="Calibri"/>
                <a:ea typeface="Calibri"/>
                <a:cs typeface="Calibri"/>
                <a:sym typeface="Calibri"/>
              </a:rPr>
              <a:t>Identificador único del documento.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FF6B35"/>
              </a:buClr>
              <a:buSzPts val="1600"/>
              <a:buFont typeface="Consolas"/>
              <a:buNone/>
            </a:pPr>
            <a:r>
              <a:rPr b="1" i="0" lang="en-US" sz="1600" u="none" cap="none" strike="noStrike">
                <a:solidFill>
                  <a:srgbClr val="FF6B35"/>
                </a:solidFill>
                <a:latin typeface="Consolas"/>
                <a:ea typeface="Consolas"/>
                <a:cs typeface="Consolas"/>
                <a:sym typeface="Consolas"/>
              </a:rPr>
              <a:t>_rev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1A0F2E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0F2E"/>
                </a:solidFill>
                <a:latin typeface="Calibri"/>
                <a:ea typeface="Calibri"/>
                <a:cs typeface="Calibri"/>
                <a:sym typeface="Calibri"/>
              </a:rPr>
              <a:t>Número de revisión. Cambia con cada modificación.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8B5CF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MVCC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1A0F2E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0F2E"/>
                </a:solidFill>
                <a:latin typeface="Calibri"/>
                <a:ea typeface="Calibri"/>
                <a:cs typeface="Calibri"/>
                <a:sym typeface="Calibri"/>
              </a:rPr>
              <a:t>Multi-Version Concurrency Control: control de versiones obligatorio para evitar sobreescrituras concurrentes.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0F2E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7"/>
          <p:cNvSpPr/>
          <p:nvPr/>
        </p:nvSpPr>
        <p:spPr>
          <a:xfrm>
            <a:off x="11064240" y="274320"/>
            <a:ext cx="822960" cy="292608"/>
          </a:xfrm>
          <a:prstGeom prst="roundRect">
            <a:avLst>
              <a:gd fmla="val 50000" name="adj"/>
            </a:avLst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7"/>
          <p:cNvSpPr/>
          <p:nvPr/>
        </p:nvSpPr>
        <p:spPr>
          <a:xfrm>
            <a:off x="11064240" y="274320"/>
            <a:ext cx="822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 / 14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548640" y="365760"/>
            <a:ext cx="457200" cy="4572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7"/>
          <p:cNvSpPr/>
          <p:nvPr/>
        </p:nvSpPr>
        <p:spPr>
          <a:xfrm>
            <a:off x="548640" y="3657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1188720" y="36576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D9FF"/>
                </a:solidFill>
                <a:latin typeface="Calibri"/>
                <a:ea typeface="Calibri"/>
                <a:cs typeface="Calibri"/>
                <a:sym typeface="Calibri"/>
              </a:rPr>
              <a:t>Bloque 2 · Arquitectura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731520" y="100584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Tres piezas, un solo flujo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1051560" y="2743200"/>
            <a:ext cx="2743200" cy="2377440"/>
          </a:xfrm>
          <a:prstGeom prst="roundRect">
            <a:avLst>
              <a:gd fmla="val 5769" name="adj"/>
            </a:avLst>
          </a:prstGeom>
          <a:solidFill>
            <a:srgbClr val="2A1B4A"/>
          </a:solidFill>
          <a:ln cap="flat" cmpd="sng" w="25400">
            <a:solidFill>
              <a:srgbClr val="00D9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7"/>
          <p:cNvSpPr/>
          <p:nvPr/>
        </p:nvSpPr>
        <p:spPr>
          <a:xfrm>
            <a:off x="1051560" y="292608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Calibri"/>
              <a:buNone/>
            </a:pPr>
            <a:r>
              <a:rPr b="0" i="0" lang="en-US" sz="3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📱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7"/>
          <p:cNvSpPr/>
          <p:nvPr/>
        </p:nvSpPr>
        <p:spPr>
          <a:xfrm>
            <a:off x="1234440" y="3749040"/>
            <a:ext cx="2377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00D9FF"/>
                </a:solidFill>
                <a:latin typeface="Calibri"/>
                <a:ea typeface="Calibri"/>
                <a:cs typeface="Calibri"/>
                <a:sym typeface="Calibri"/>
              </a:rPr>
              <a:t>Flutter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1234440" y="4343400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A8E8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B8A8E8"/>
                </a:solidFill>
                <a:latin typeface="Calibri"/>
                <a:ea typeface="Calibri"/>
                <a:cs typeface="Calibri"/>
                <a:sym typeface="Calibri"/>
              </a:rPr>
              <a:t>Cliente CRUD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5" name="Google Shape;155;p7"/>
          <p:cNvCxnSpPr/>
          <p:nvPr/>
        </p:nvCxnSpPr>
        <p:spPr>
          <a:xfrm>
            <a:off x="3840480" y="3931920"/>
            <a:ext cx="822960" cy="0"/>
          </a:xfrm>
          <a:prstGeom prst="straightConnector1">
            <a:avLst/>
          </a:prstGeom>
          <a:noFill/>
          <a:ln cap="flat" cmpd="sng" w="38100">
            <a:solidFill>
              <a:srgbClr val="00D9FF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56" name="Google Shape;156;p7"/>
          <p:cNvSpPr/>
          <p:nvPr/>
        </p:nvSpPr>
        <p:spPr>
          <a:xfrm>
            <a:off x="4709160" y="2743200"/>
            <a:ext cx="2743200" cy="2377440"/>
          </a:xfrm>
          <a:prstGeom prst="roundRect">
            <a:avLst>
              <a:gd fmla="val 5769" name="adj"/>
            </a:avLst>
          </a:prstGeom>
          <a:solidFill>
            <a:srgbClr val="2A1B4A"/>
          </a:solidFill>
          <a:ln cap="flat" cmpd="sng" w="25400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4709160" y="292608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Calibri"/>
              <a:buNone/>
            </a:pPr>
            <a:r>
              <a:rPr b="0" i="0" lang="en-US" sz="3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↔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4892040" y="3749040"/>
            <a:ext cx="2377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FF6B35"/>
                </a:solidFill>
                <a:latin typeface="Calibri"/>
                <a:ea typeface="Calibri"/>
                <a:cs typeface="Calibri"/>
                <a:sym typeface="Calibri"/>
              </a:rPr>
              <a:t>HTTP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4892040" y="4343400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A8E8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B8A8E8"/>
                </a:solidFill>
                <a:latin typeface="Calibri"/>
                <a:ea typeface="Calibri"/>
                <a:cs typeface="Calibri"/>
                <a:sym typeface="Calibri"/>
              </a:rPr>
              <a:t>REST · puerto 5984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0" name="Google Shape;160;p7"/>
          <p:cNvCxnSpPr/>
          <p:nvPr/>
        </p:nvCxnSpPr>
        <p:spPr>
          <a:xfrm>
            <a:off x="7498080" y="3931920"/>
            <a:ext cx="822960" cy="0"/>
          </a:xfrm>
          <a:prstGeom prst="straightConnector1">
            <a:avLst/>
          </a:prstGeom>
          <a:noFill/>
          <a:ln cap="flat" cmpd="sng" w="38100">
            <a:solidFill>
              <a:srgbClr val="FF6B35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61" name="Google Shape;161;p7"/>
          <p:cNvSpPr/>
          <p:nvPr/>
        </p:nvSpPr>
        <p:spPr>
          <a:xfrm>
            <a:off x="8366760" y="2743200"/>
            <a:ext cx="2743200" cy="2377440"/>
          </a:xfrm>
          <a:prstGeom prst="roundRect">
            <a:avLst>
              <a:gd fmla="val 5769" name="adj"/>
            </a:avLst>
          </a:prstGeom>
          <a:solidFill>
            <a:srgbClr val="2A1B4A"/>
          </a:solidFill>
          <a:ln cap="flat" cmpd="sng" w="254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8366760" y="292608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Calibri"/>
              <a:buNone/>
            </a:pPr>
            <a:r>
              <a:rPr b="0" i="0" lang="en-US" sz="3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🗄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8549640" y="3749040"/>
            <a:ext cx="2377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5CF6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CouchDB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7"/>
          <p:cNvSpPr/>
          <p:nvPr/>
        </p:nvSpPr>
        <p:spPr>
          <a:xfrm>
            <a:off x="8549640" y="4343400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A8E8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B8A8E8"/>
                </a:solidFill>
                <a:latin typeface="Calibri"/>
                <a:ea typeface="Calibri"/>
                <a:cs typeface="Calibri"/>
                <a:sym typeface="Calibri"/>
              </a:rPr>
              <a:t>en Docker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914400" y="5577840"/>
            <a:ext cx="103327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A8E8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B8A8E8"/>
                </a:solidFill>
                <a:latin typeface="Calibri"/>
                <a:ea typeface="Calibri"/>
                <a:cs typeface="Calibri"/>
                <a:sym typeface="Calibri"/>
              </a:rPr>
              <a:t>Separación estricta de capas: el servicio Dart no depende de Flutter, así puede reutilizarse en consola, servidor o tests sin cambios.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0F2E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"/>
          <p:cNvSpPr/>
          <p:nvPr/>
        </p:nvSpPr>
        <p:spPr>
          <a:xfrm>
            <a:off x="11064240" y="274320"/>
            <a:ext cx="822960" cy="292608"/>
          </a:xfrm>
          <a:prstGeom prst="roundRect">
            <a:avLst>
              <a:gd fmla="val 50000" name="adj"/>
            </a:avLst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8"/>
          <p:cNvSpPr/>
          <p:nvPr/>
        </p:nvSpPr>
        <p:spPr>
          <a:xfrm>
            <a:off x="11064240" y="274320"/>
            <a:ext cx="822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8 / 14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548640" y="36576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8"/>
          <p:cNvSpPr/>
          <p:nvPr/>
        </p:nvSpPr>
        <p:spPr>
          <a:xfrm>
            <a:off x="548640" y="3657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8"/>
          <p:cNvSpPr/>
          <p:nvPr/>
        </p:nvSpPr>
        <p:spPr>
          <a:xfrm>
            <a:off x="731520" y="2286000"/>
            <a:ext cx="10972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400"/>
              <a:buFont typeface="Calibri"/>
              <a:buNone/>
            </a:pPr>
            <a:r>
              <a:rPr b="1" i="0" lang="en-US" sz="8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 EN VIVO</a:t>
            </a:r>
            <a:endParaRPr b="0" i="0" sz="8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8"/>
          <p:cNvSpPr/>
          <p:nvPr/>
        </p:nvSpPr>
        <p:spPr>
          <a:xfrm>
            <a:off x="4709160" y="3566160"/>
            <a:ext cx="274320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8"/>
          <p:cNvSpPr/>
          <p:nvPr/>
        </p:nvSpPr>
        <p:spPr>
          <a:xfrm>
            <a:off x="731520" y="38404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00D9FF"/>
                </a:solidFill>
                <a:latin typeface="Calibri"/>
                <a:ea typeface="Calibri"/>
                <a:cs typeface="Calibri"/>
                <a:sym typeface="Calibri"/>
              </a:rPr>
              <a:t>CRUD completo  ·  Mango Query  ·  Vista MapReduce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2FF"/>
        </a:solid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9"/>
          <p:cNvSpPr/>
          <p:nvPr/>
        </p:nvSpPr>
        <p:spPr>
          <a:xfrm>
            <a:off x="11064240" y="274320"/>
            <a:ext cx="822960" cy="292608"/>
          </a:xfrm>
          <a:prstGeom prst="roundRect">
            <a:avLst>
              <a:gd fmla="val 50000" name="adj"/>
            </a:avLst>
          </a:prstGeom>
          <a:solidFill>
            <a:srgbClr val="1A0F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9"/>
          <p:cNvSpPr/>
          <p:nvPr/>
        </p:nvSpPr>
        <p:spPr>
          <a:xfrm>
            <a:off x="11064240" y="274320"/>
            <a:ext cx="822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9 / 14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9"/>
          <p:cNvSpPr/>
          <p:nvPr/>
        </p:nvSpPr>
        <p:spPr>
          <a:xfrm>
            <a:off x="548640" y="36576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9"/>
          <p:cNvSpPr/>
          <p:nvPr/>
        </p:nvSpPr>
        <p:spPr>
          <a:xfrm>
            <a:off x="548640" y="3657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9"/>
          <p:cNvSpPr/>
          <p:nvPr/>
        </p:nvSpPr>
        <p:spPr>
          <a:xfrm>
            <a:off x="1188720" y="36576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6B35"/>
                </a:solidFill>
                <a:latin typeface="Calibri"/>
                <a:ea typeface="Calibri"/>
                <a:cs typeface="Calibri"/>
                <a:sym typeface="Calibri"/>
              </a:rPr>
              <a:t>Bloque 3 · CRUD en Flutter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9"/>
          <p:cNvSpPr/>
          <p:nvPr/>
        </p:nvSpPr>
        <p:spPr>
          <a:xfrm>
            <a:off x="731520" y="91440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0F2E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1A0F2E"/>
                </a:solidFill>
                <a:latin typeface="Calibri"/>
                <a:ea typeface="Calibri"/>
                <a:cs typeface="Calibri"/>
                <a:sym typeface="Calibri"/>
              </a:rPr>
              <a:t>Las cuatro operaciones, mapeadas a HTTP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9"/>
          <p:cNvSpPr/>
          <p:nvPr/>
        </p:nvSpPr>
        <p:spPr>
          <a:xfrm>
            <a:off x="731520" y="1920240"/>
            <a:ext cx="10698480" cy="841248"/>
          </a:xfrm>
          <a:prstGeom prst="roundRect">
            <a:avLst>
              <a:gd fmla="val 8696" name="adj"/>
            </a:avLst>
          </a:prstGeom>
          <a:solidFill>
            <a:srgbClr val="FFFFFF"/>
          </a:solidFill>
          <a:ln cap="flat" cmpd="sng" w="12700">
            <a:solidFill>
              <a:srgbClr val="E0DD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9"/>
          <p:cNvSpPr/>
          <p:nvPr/>
        </p:nvSpPr>
        <p:spPr>
          <a:xfrm>
            <a:off x="914400" y="2020824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9"/>
          <p:cNvSpPr/>
          <p:nvPr/>
        </p:nvSpPr>
        <p:spPr>
          <a:xfrm>
            <a:off x="914400" y="2020824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9"/>
          <p:cNvSpPr/>
          <p:nvPr/>
        </p:nvSpPr>
        <p:spPr>
          <a:xfrm>
            <a:off x="1828800" y="1920240"/>
            <a:ext cx="1188720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1800"/>
              <a:buFont typeface="Consolas"/>
              <a:buNone/>
            </a:pPr>
            <a:r>
              <a:rPr b="1" i="0" lang="en-US" sz="1800" u="none" cap="none" strike="noStrike">
                <a:solidFill>
                  <a:srgbClr val="10B981"/>
                </a:solidFill>
                <a:latin typeface="Consolas"/>
                <a:ea typeface="Consolas"/>
                <a:cs typeface="Consolas"/>
                <a:sym typeface="Consolas"/>
              </a:rPr>
              <a:t>POST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9"/>
          <p:cNvSpPr/>
          <p:nvPr/>
        </p:nvSpPr>
        <p:spPr>
          <a:xfrm>
            <a:off x="3108960" y="1920240"/>
            <a:ext cx="3657600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0F2E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1A0F2E"/>
                </a:solidFill>
                <a:latin typeface="Consolas"/>
                <a:ea typeface="Consolas"/>
                <a:cs typeface="Consolas"/>
                <a:sym typeface="Consolas"/>
              </a:rPr>
              <a:t>/mancos_ragequits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9"/>
          <p:cNvSpPr/>
          <p:nvPr/>
        </p:nvSpPr>
        <p:spPr>
          <a:xfrm>
            <a:off x="6858000" y="1920240"/>
            <a:ext cx="4480560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58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B6580"/>
                </a:solidFill>
                <a:latin typeface="Calibri"/>
                <a:ea typeface="Calibri"/>
                <a:cs typeface="Calibri"/>
                <a:sym typeface="Calibri"/>
              </a:rPr>
              <a:t>Crea un manco. CouchDB devuelve _id y _rev nuevos.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9"/>
          <p:cNvSpPr/>
          <p:nvPr/>
        </p:nvSpPr>
        <p:spPr>
          <a:xfrm>
            <a:off x="731520" y="2871216"/>
            <a:ext cx="10698480" cy="841248"/>
          </a:xfrm>
          <a:prstGeom prst="roundRect">
            <a:avLst>
              <a:gd fmla="val 8696" name="adj"/>
            </a:avLst>
          </a:prstGeom>
          <a:solidFill>
            <a:srgbClr val="FFFFFF"/>
          </a:solidFill>
          <a:ln cap="flat" cmpd="sng" w="12700">
            <a:solidFill>
              <a:srgbClr val="E0DD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9"/>
          <p:cNvSpPr/>
          <p:nvPr/>
        </p:nvSpPr>
        <p:spPr>
          <a:xfrm>
            <a:off x="914400" y="2971800"/>
            <a:ext cx="640080" cy="640080"/>
          </a:xfrm>
          <a:prstGeom prst="ellipse">
            <a:avLst/>
          </a:prstGeom>
          <a:solidFill>
            <a:srgbClr val="00D9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9"/>
          <p:cNvSpPr/>
          <p:nvPr/>
        </p:nvSpPr>
        <p:spPr>
          <a:xfrm>
            <a:off x="914400" y="29718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9"/>
          <p:cNvSpPr/>
          <p:nvPr/>
        </p:nvSpPr>
        <p:spPr>
          <a:xfrm>
            <a:off x="1828800" y="2871216"/>
            <a:ext cx="1188720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800"/>
              <a:buFont typeface="Consolas"/>
              <a:buNone/>
            </a:pPr>
            <a:r>
              <a:rPr b="1" i="0" lang="en-US" sz="18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GET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9"/>
          <p:cNvSpPr/>
          <p:nvPr/>
        </p:nvSpPr>
        <p:spPr>
          <a:xfrm>
            <a:off x="3108960" y="2871216"/>
            <a:ext cx="3657600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0F2E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1A0F2E"/>
                </a:solidFill>
                <a:latin typeface="Consolas"/>
                <a:ea typeface="Consolas"/>
                <a:cs typeface="Consolas"/>
                <a:sym typeface="Consolas"/>
              </a:rPr>
              <a:t>/_all_docs?include_docs=true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9"/>
          <p:cNvSpPr/>
          <p:nvPr/>
        </p:nvSpPr>
        <p:spPr>
          <a:xfrm>
            <a:off x="6858000" y="2871216"/>
            <a:ext cx="4480560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58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B6580"/>
                </a:solidFill>
                <a:latin typeface="Calibri"/>
                <a:ea typeface="Calibri"/>
                <a:cs typeface="Calibri"/>
                <a:sym typeface="Calibri"/>
              </a:rPr>
              <a:t>Lee todos los documentos en una sola petición.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9"/>
          <p:cNvSpPr/>
          <p:nvPr/>
        </p:nvSpPr>
        <p:spPr>
          <a:xfrm>
            <a:off x="731520" y="3822192"/>
            <a:ext cx="10698480" cy="841248"/>
          </a:xfrm>
          <a:prstGeom prst="roundRect">
            <a:avLst>
              <a:gd fmla="val 8696" name="adj"/>
            </a:avLst>
          </a:prstGeom>
          <a:solidFill>
            <a:srgbClr val="FFFFFF"/>
          </a:solidFill>
          <a:ln cap="flat" cmpd="sng" w="12700">
            <a:solidFill>
              <a:srgbClr val="E0DD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9"/>
          <p:cNvSpPr/>
          <p:nvPr/>
        </p:nvSpPr>
        <p:spPr>
          <a:xfrm>
            <a:off x="914400" y="3922776"/>
            <a:ext cx="640080" cy="6400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9"/>
          <p:cNvSpPr/>
          <p:nvPr/>
        </p:nvSpPr>
        <p:spPr>
          <a:xfrm>
            <a:off x="914400" y="3922776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9"/>
          <p:cNvSpPr/>
          <p:nvPr/>
        </p:nvSpPr>
        <p:spPr>
          <a:xfrm>
            <a:off x="1828800" y="3822192"/>
            <a:ext cx="1188720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5CF6"/>
              </a:buClr>
              <a:buSzPts val="1800"/>
              <a:buFont typeface="Consolas"/>
              <a:buNone/>
            </a:pPr>
            <a:r>
              <a:rPr b="1" i="0" lang="en-US" sz="1800" u="none" cap="none" strike="noStrike">
                <a:solidFill>
                  <a:srgbClr val="8B5CF6"/>
                </a:solidFill>
                <a:latin typeface="Consolas"/>
                <a:ea typeface="Consolas"/>
                <a:cs typeface="Consolas"/>
                <a:sym typeface="Consolas"/>
              </a:rPr>
              <a:t>PUT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9"/>
          <p:cNvSpPr/>
          <p:nvPr/>
        </p:nvSpPr>
        <p:spPr>
          <a:xfrm>
            <a:off x="3108960" y="3822192"/>
            <a:ext cx="3657600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0F2E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1A0F2E"/>
                </a:solidFill>
                <a:latin typeface="Consolas"/>
                <a:ea typeface="Consolas"/>
                <a:cs typeface="Consolas"/>
                <a:sym typeface="Consolas"/>
              </a:rPr>
              <a:t>/mancos_ragequits/{_id}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9"/>
          <p:cNvSpPr/>
          <p:nvPr/>
        </p:nvSpPr>
        <p:spPr>
          <a:xfrm>
            <a:off x="6858000" y="3822192"/>
            <a:ext cx="4480560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58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B6580"/>
                </a:solidFill>
                <a:latin typeface="Calibri"/>
                <a:ea typeface="Calibri"/>
                <a:cs typeface="Calibri"/>
                <a:sym typeface="Calibri"/>
              </a:rPr>
              <a:t>Actualiza. Requiere _rev actual o devuelve 409 Conflict.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9"/>
          <p:cNvSpPr/>
          <p:nvPr/>
        </p:nvSpPr>
        <p:spPr>
          <a:xfrm>
            <a:off x="731520" y="4773168"/>
            <a:ext cx="10698480" cy="841248"/>
          </a:xfrm>
          <a:prstGeom prst="roundRect">
            <a:avLst>
              <a:gd fmla="val 8696" name="adj"/>
            </a:avLst>
          </a:prstGeom>
          <a:solidFill>
            <a:srgbClr val="FFFFFF"/>
          </a:solidFill>
          <a:ln cap="flat" cmpd="sng" w="12700">
            <a:solidFill>
              <a:srgbClr val="E0DD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9"/>
          <p:cNvSpPr/>
          <p:nvPr/>
        </p:nvSpPr>
        <p:spPr>
          <a:xfrm>
            <a:off x="914400" y="4873752"/>
            <a:ext cx="640080" cy="64008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14400" y="4873752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9"/>
          <p:cNvSpPr/>
          <p:nvPr/>
        </p:nvSpPr>
        <p:spPr>
          <a:xfrm>
            <a:off x="1828800" y="4773168"/>
            <a:ext cx="1188720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800"/>
              <a:buFont typeface="Consolas"/>
              <a:buNone/>
            </a:pPr>
            <a:r>
              <a:rPr b="1" i="0" lang="en-US" sz="1800" u="none" cap="none" strike="noStrike">
                <a:solidFill>
                  <a:srgbClr val="FF6B35"/>
                </a:solidFill>
                <a:latin typeface="Consolas"/>
                <a:ea typeface="Consolas"/>
                <a:cs typeface="Consolas"/>
                <a:sym typeface="Consolas"/>
              </a:rPr>
              <a:t>DELETE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9"/>
          <p:cNvSpPr/>
          <p:nvPr/>
        </p:nvSpPr>
        <p:spPr>
          <a:xfrm>
            <a:off x="3108960" y="4773168"/>
            <a:ext cx="3657600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0F2E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1A0F2E"/>
                </a:solidFill>
                <a:latin typeface="Consolas"/>
                <a:ea typeface="Consolas"/>
                <a:cs typeface="Consolas"/>
                <a:sym typeface="Consolas"/>
              </a:rPr>
              <a:t>/{_id}?rev={_rev}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9"/>
          <p:cNvSpPr/>
          <p:nvPr/>
        </p:nvSpPr>
        <p:spPr>
          <a:xfrm>
            <a:off x="6858000" y="4773168"/>
            <a:ext cx="4480560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58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B6580"/>
                </a:solidFill>
                <a:latin typeface="Calibri"/>
                <a:ea typeface="Calibri"/>
                <a:cs typeface="Calibri"/>
                <a:sym typeface="Calibri"/>
              </a:rPr>
              <a:t>Elimina. El _rev va en la query string.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9"/>
          <p:cNvSpPr/>
          <p:nvPr/>
        </p:nvSpPr>
        <p:spPr>
          <a:xfrm>
            <a:off x="731520" y="6080760"/>
            <a:ext cx="10698480" cy="502920"/>
          </a:xfrm>
          <a:prstGeom prst="roundRect">
            <a:avLst>
              <a:gd fmla="val 14545" name="adj"/>
            </a:avLst>
          </a:prstGeom>
          <a:solidFill>
            <a:srgbClr val="1A0F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9"/>
          <p:cNvSpPr/>
          <p:nvPr/>
        </p:nvSpPr>
        <p:spPr>
          <a:xfrm>
            <a:off x="914400" y="6080760"/>
            <a:ext cx="10332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6B35"/>
                </a:solidFill>
                <a:latin typeface="Calibri"/>
                <a:ea typeface="Calibri"/>
                <a:cs typeface="Calibri"/>
                <a:sym typeface="Calibri"/>
              </a:rPr>
              <a:t>Magia de CouchDB: 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_rev es obligatorio en Update y Delete. Sin él, 409 Conflict. Es MVCC en acción.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0F2E"/>
        </a:solidFill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0"/>
          <p:cNvSpPr/>
          <p:nvPr/>
        </p:nvSpPr>
        <p:spPr>
          <a:xfrm>
            <a:off x="11064240" y="274320"/>
            <a:ext cx="822960" cy="292608"/>
          </a:xfrm>
          <a:prstGeom prst="roundRect">
            <a:avLst>
              <a:gd fmla="val 50000" name="adj"/>
            </a:avLst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0"/>
          <p:cNvSpPr/>
          <p:nvPr/>
        </p:nvSpPr>
        <p:spPr>
          <a:xfrm>
            <a:off x="11064240" y="274320"/>
            <a:ext cx="822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10 / 14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0"/>
          <p:cNvSpPr/>
          <p:nvPr/>
        </p:nvSpPr>
        <p:spPr>
          <a:xfrm>
            <a:off x="548640" y="36576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0"/>
          <p:cNvSpPr/>
          <p:nvPr/>
        </p:nvSpPr>
        <p:spPr>
          <a:xfrm>
            <a:off x="548640" y="3657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0"/>
          <p:cNvSpPr/>
          <p:nvPr/>
        </p:nvSpPr>
        <p:spPr>
          <a:xfrm>
            <a:off x="1188720" y="36576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D9FF"/>
                </a:solidFill>
                <a:latin typeface="Calibri"/>
                <a:ea typeface="Calibri"/>
                <a:cs typeface="Calibri"/>
                <a:sym typeface="Calibri"/>
              </a:rPr>
              <a:t>Bloque 3 · Consulta Estrella 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0"/>
          <p:cNvSpPr/>
          <p:nvPr/>
        </p:nvSpPr>
        <p:spPr>
          <a:xfrm>
            <a:off x="731520" y="100584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Mango Query · caza al manco peligroso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0"/>
          <p:cNvSpPr/>
          <p:nvPr/>
        </p:nvSpPr>
        <p:spPr>
          <a:xfrm>
            <a:off x="731520" y="1920240"/>
            <a:ext cx="6400800" cy="4572000"/>
          </a:xfrm>
          <a:prstGeom prst="roundRect">
            <a:avLst>
              <a:gd fmla="val 1600" name="adj"/>
            </a:avLst>
          </a:prstGeom>
          <a:solidFill>
            <a:srgbClr val="2A1B4A"/>
          </a:solidFill>
          <a:ln cap="flat" cmpd="sng" w="12700">
            <a:solidFill>
              <a:srgbClr val="00D9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10"/>
          <p:cNvSpPr/>
          <p:nvPr/>
        </p:nvSpPr>
        <p:spPr>
          <a:xfrm>
            <a:off x="914400" y="2057400"/>
            <a:ext cx="603504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"selector": {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  "$and": [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    { "reincidente": { "$eq": true } },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      "$or": [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        { "nivel_de_rageo": { "$gte": 8 } },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        { "partidas_abandonadas_ultimo_mes":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          { "$gt": 10 } }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      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    },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    { "ping_falso_alegado": { "$gte": 100 } },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      "perifericos_destruidos": {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        "$elemMatch": {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          "$regex": "(?i)mando|teclado"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        }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  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}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0"/>
          <p:cNvSpPr/>
          <p:nvPr/>
        </p:nvSpPr>
        <p:spPr>
          <a:xfrm>
            <a:off x="7498080" y="1920240"/>
            <a:ext cx="4023360" cy="4572000"/>
          </a:xfrm>
          <a:prstGeom prst="roundRect">
            <a:avLst>
              <a:gd fmla="val 1818" name="adj"/>
            </a:avLst>
          </a:prstGeom>
          <a:solidFill>
            <a:srgbClr val="2A1B4A"/>
          </a:solidFill>
          <a:ln cap="flat" cmpd="sng" w="12700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10"/>
          <p:cNvSpPr/>
          <p:nvPr/>
        </p:nvSpPr>
        <p:spPr>
          <a:xfrm>
            <a:off x="7680960" y="210312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6B35"/>
                </a:solidFill>
                <a:latin typeface="Calibri"/>
                <a:ea typeface="Calibri"/>
                <a:cs typeface="Calibri"/>
                <a:sym typeface="Calibri"/>
              </a:rPr>
              <a:t>Operadores en juego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0"/>
          <p:cNvSpPr/>
          <p:nvPr/>
        </p:nvSpPr>
        <p:spPr>
          <a:xfrm>
            <a:off x="7680960" y="260604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$and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0"/>
          <p:cNvSpPr/>
          <p:nvPr/>
        </p:nvSpPr>
        <p:spPr>
          <a:xfrm>
            <a:off x="7680960" y="288036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A8E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B8A8E8"/>
                </a:solidFill>
                <a:latin typeface="Calibri"/>
                <a:ea typeface="Calibri"/>
                <a:cs typeface="Calibri"/>
                <a:sym typeface="Calibri"/>
              </a:rPr>
              <a:t>Combina varias condiciones obligatorias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0"/>
          <p:cNvSpPr/>
          <p:nvPr/>
        </p:nvSpPr>
        <p:spPr>
          <a:xfrm>
            <a:off x="7680960" y="324612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$or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0"/>
          <p:cNvSpPr/>
          <p:nvPr/>
        </p:nvSpPr>
        <p:spPr>
          <a:xfrm>
            <a:off x="7680960" y="352044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A8E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B8A8E8"/>
                </a:solidFill>
                <a:latin typeface="Calibri"/>
                <a:ea typeface="Calibri"/>
                <a:cs typeface="Calibri"/>
                <a:sym typeface="Calibri"/>
              </a:rPr>
              <a:t>Una de varias debe cumplirse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0"/>
          <p:cNvSpPr/>
          <p:nvPr/>
        </p:nvSpPr>
        <p:spPr>
          <a:xfrm>
            <a:off x="7680960" y="388620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$gte / $gt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0"/>
          <p:cNvSpPr/>
          <p:nvPr/>
        </p:nvSpPr>
        <p:spPr>
          <a:xfrm>
            <a:off x="7680960" y="416052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A8E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B8A8E8"/>
                </a:solidFill>
                <a:latin typeface="Calibri"/>
                <a:ea typeface="Calibri"/>
                <a:cs typeface="Calibri"/>
                <a:sym typeface="Calibri"/>
              </a:rPr>
              <a:t>Comparaciones numéricas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0"/>
          <p:cNvSpPr/>
          <p:nvPr/>
        </p:nvSpPr>
        <p:spPr>
          <a:xfrm>
            <a:off x="7680960" y="452628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$elemMatch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0"/>
          <p:cNvSpPr/>
          <p:nvPr/>
        </p:nvSpPr>
        <p:spPr>
          <a:xfrm>
            <a:off x="7680960" y="480060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A8E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B8A8E8"/>
                </a:solidFill>
                <a:latin typeface="Calibri"/>
                <a:ea typeface="Calibri"/>
                <a:cs typeface="Calibri"/>
                <a:sym typeface="Calibri"/>
              </a:rPr>
              <a:t>Busca dentro de un array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7680960" y="5166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$regex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0"/>
          <p:cNvSpPr/>
          <p:nvPr/>
        </p:nvSpPr>
        <p:spPr>
          <a:xfrm>
            <a:off x="7680960" y="544068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A8E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B8A8E8"/>
                </a:solidFill>
                <a:latin typeface="Calibri"/>
                <a:ea typeface="Calibri"/>
                <a:cs typeface="Calibri"/>
                <a:sym typeface="Calibri"/>
              </a:rPr>
              <a:t>Patrón insensible a mayúsculas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0"/>
          <p:cNvSpPr/>
          <p:nvPr/>
        </p:nvSpPr>
        <p:spPr>
          <a:xfrm>
            <a:off x="7680960" y="6035040"/>
            <a:ext cx="3657600" cy="457200"/>
          </a:xfrm>
          <a:prstGeom prst="roundRect">
            <a:avLst>
              <a:gd fmla="val 50000" name="adj"/>
            </a:avLst>
          </a:prstGeom>
          <a:solidFill>
            <a:srgbClr val="FF6B3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0"/>
          <p:cNvSpPr/>
          <p:nvPr/>
        </p:nvSpPr>
        <p:spPr>
          <a:xfrm>
            <a:off x="7680960" y="603504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→ Devuelve 3 mancos peligrosos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2FF"/>
        </a:solidFill>
      </p:bgPr>
    </p:bg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1"/>
          <p:cNvSpPr/>
          <p:nvPr/>
        </p:nvSpPr>
        <p:spPr>
          <a:xfrm>
            <a:off x="11064240" y="274320"/>
            <a:ext cx="822960" cy="292608"/>
          </a:xfrm>
          <a:prstGeom prst="roundRect">
            <a:avLst>
              <a:gd fmla="val 50000" name="adj"/>
            </a:avLst>
          </a:prstGeom>
          <a:solidFill>
            <a:srgbClr val="1A0F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1"/>
          <p:cNvSpPr/>
          <p:nvPr/>
        </p:nvSpPr>
        <p:spPr>
          <a:xfrm>
            <a:off x="11064240" y="274320"/>
            <a:ext cx="822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11 / 14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1"/>
          <p:cNvSpPr/>
          <p:nvPr/>
        </p:nvSpPr>
        <p:spPr>
          <a:xfrm>
            <a:off x="548640" y="36576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11"/>
          <p:cNvSpPr/>
          <p:nvPr/>
        </p:nvSpPr>
        <p:spPr>
          <a:xfrm>
            <a:off x="548640" y="3657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1"/>
          <p:cNvSpPr/>
          <p:nvPr/>
        </p:nvSpPr>
        <p:spPr>
          <a:xfrm>
            <a:off x="1188720" y="36576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6B35"/>
                </a:solidFill>
                <a:latin typeface="Calibri"/>
                <a:ea typeface="Calibri"/>
                <a:cs typeface="Calibri"/>
                <a:sym typeface="Calibri"/>
              </a:rPr>
              <a:t>Bloque 3 · Consulta Estrella 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1"/>
          <p:cNvSpPr/>
          <p:nvPr/>
        </p:nvSpPr>
        <p:spPr>
          <a:xfrm>
            <a:off x="731520" y="91440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0F2E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1A0F2E"/>
                </a:solidFill>
                <a:latin typeface="Calibri"/>
                <a:ea typeface="Calibri"/>
                <a:cs typeface="Calibri"/>
                <a:sym typeface="Calibri"/>
              </a:rPr>
              <a:t>Vista MapReduce · ranking de juegos tóxicos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1"/>
          <p:cNvSpPr/>
          <p:nvPr/>
        </p:nvSpPr>
        <p:spPr>
          <a:xfrm>
            <a:off x="731520" y="1828800"/>
            <a:ext cx="5349240" cy="4389120"/>
          </a:xfrm>
          <a:prstGeom prst="roundRect">
            <a:avLst>
              <a:gd fmla="val 1667" name="adj"/>
            </a:avLst>
          </a:prstGeom>
          <a:solidFill>
            <a:srgbClr val="1A0F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11"/>
          <p:cNvSpPr/>
          <p:nvPr/>
        </p:nvSpPr>
        <p:spPr>
          <a:xfrm>
            <a:off x="731520" y="1828800"/>
            <a:ext cx="5349240" cy="457200"/>
          </a:xfrm>
          <a:prstGeom prst="rect">
            <a:avLst/>
          </a:prstGeom>
          <a:solidFill>
            <a:srgbClr val="00D9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1"/>
          <p:cNvSpPr/>
          <p:nvPr/>
        </p:nvSpPr>
        <p:spPr>
          <a:xfrm>
            <a:off x="731520" y="1828800"/>
            <a:ext cx="5349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0F2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A0F2E"/>
                </a:solidFill>
                <a:latin typeface="Calibri"/>
                <a:ea typeface="Calibri"/>
                <a:cs typeface="Calibri"/>
                <a:sym typeface="Calibri"/>
              </a:rPr>
              <a:t>MAP — emite (clave, valor) por documento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1"/>
          <p:cNvSpPr/>
          <p:nvPr/>
        </p:nvSpPr>
        <p:spPr>
          <a:xfrm>
            <a:off x="914400" y="2423160"/>
            <a:ext cx="498348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function (doc) {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if (doc.juego_jugado &amp;&amp;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    doc.nivel_de_rageo !== undefined) {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  emit(doc.juego_jugado, {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    incidentes: 1,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    coste: doc.coste_estimado_destrozos_eur || 0,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    rageo_total: doc.nivel_de_rageo,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    rageo_max: doc.nivel_de_rageo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  });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  }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00D9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6263640" y="1828800"/>
            <a:ext cx="5166360" cy="4389120"/>
          </a:xfrm>
          <a:prstGeom prst="roundRect">
            <a:avLst>
              <a:gd fmla="val 1667" name="adj"/>
            </a:avLst>
          </a:prstGeom>
          <a:solidFill>
            <a:srgbClr val="1A0F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11"/>
          <p:cNvSpPr/>
          <p:nvPr/>
        </p:nvSpPr>
        <p:spPr>
          <a:xfrm>
            <a:off x="6263640" y="1828800"/>
            <a:ext cx="5166360" cy="457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11"/>
          <p:cNvSpPr/>
          <p:nvPr/>
        </p:nvSpPr>
        <p:spPr>
          <a:xfrm>
            <a:off x="6263640" y="1828800"/>
            <a:ext cx="5166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REDUCE — agrega valores por clave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1"/>
          <p:cNvSpPr/>
          <p:nvPr/>
        </p:nvSpPr>
        <p:spPr>
          <a:xfrm>
            <a:off x="6446520" y="2423160"/>
            <a:ext cx="48006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FF6B35"/>
                </a:solidFill>
                <a:latin typeface="Consolas"/>
                <a:ea typeface="Consolas"/>
                <a:cs typeface="Consolas"/>
                <a:sym typeface="Consolas"/>
              </a:rPr>
              <a:t>function (keys, values, rereduce) {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FF6B35"/>
                </a:solidFill>
                <a:latin typeface="Consolas"/>
                <a:ea typeface="Consolas"/>
                <a:cs typeface="Consolas"/>
                <a:sym typeface="Consolas"/>
              </a:rPr>
              <a:t>  var r = { incidentes: 0, coste_total: 0,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FF6B35"/>
                </a:solidFill>
                <a:latin typeface="Consolas"/>
                <a:ea typeface="Consolas"/>
                <a:cs typeface="Consolas"/>
                <a:sym typeface="Consolas"/>
              </a:rPr>
              <a:t>            rageo_total: 0, rageo_max: 0 };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FF6B35"/>
                </a:solidFill>
                <a:latin typeface="Consolas"/>
                <a:ea typeface="Consolas"/>
                <a:cs typeface="Consolas"/>
                <a:sym typeface="Consolas"/>
              </a:rPr>
              <a:t>  values.forEach(function (v) {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FF6B35"/>
                </a:solidFill>
                <a:latin typeface="Consolas"/>
                <a:ea typeface="Consolas"/>
                <a:cs typeface="Consolas"/>
                <a:sym typeface="Consolas"/>
              </a:rPr>
              <a:t>    r.incidentes  += v.incidentes;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FF6B35"/>
                </a:solidFill>
                <a:latin typeface="Consolas"/>
                <a:ea typeface="Consolas"/>
                <a:cs typeface="Consolas"/>
                <a:sym typeface="Consolas"/>
              </a:rPr>
              <a:t>    r.coste_total += v.coste;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FF6B35"/>
                </a:solidFill>
                <a:latin typeface="Consolas"/>
                <a:ea typeface="Consolas"/>
                <a:cs typeface="Consolas"/>
                <a:sym typeface="Consolas"/>
              </a:rPr>
              <a:t>    r.rageo_total += v.rageo_total;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FF6B35"/>
                </a:solidFill>
                <a:latin typeface="Consolas"/>
                <a:ea typeface="Consolas"/>
                <a:cs typeface="Consolas"/>
                <a:sym typeface="Consolas"/>
              </a:rPr>
              <a:t>    if (v.rageo_max &gt; r.rageo_max)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FF6B35"/>
                </a:solidFill>
                <a:latin typeface="Consolas"/>
                <a:ea typeface="Consolas"/>
                <a:cs typeface="Consolas"/>
                <a:sym typeface="Consolas"/>
              </a:rPr>
              <a:t>      r.rageo_max = v.rageo_max;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FF6B35"/>
                </a:solidFill>
                <a:latin typeface="Consolas"/>
                <a:ea typeface="Consolas"/>
                <a:cs typeface="Consolas"/>
                <a:sym typeface="Consolas"/>
              </a:rPr>
              <a:t>  });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FF6B35"/>
                </a:solidFill>
                <a:latin typeface="Consolas"/>
                <a:ea typeface="Consolas"/>
                <a:cs typeface="Consolas"/>
                <a:sym typeface="Consolas"/>
              </a:rPr>
              <a:t>  r.coste_medio = r.coste_total / r.incidentes;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FF6B35"/>
                </a:solidFill>
                <a:latin typeface="Consolas"/>
                <a:ea typeface="Consolas"/>
                <a:cs typeface="Consolas"/>
                <a:sym typeface="Consolas"/>
              </a:rPr>
              <a:t>  r.rageo_medio = r.rageo_total / r.incidentes;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FF6B35"/>
                </a:solidFill>
                <a:latin typeface="Consolas"/>
                <a:ea typeface="Consolas"/>
                <a:cs typeface="Consolas"/>
                <a:sym typeface="Consolas"/>
              </a:rPr>
              <a:t>  return r;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FF6B35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1"/>
          <p:cNvSpPr/>
          <p:nvPr/>
        </p:nvSpPr>
        <p:spPr>
          <a:xfrm>
            <a:off x="731520" y="6355080"/>
            <a:ext cx="10698480" cy="365760"/>
          </a:xfrm>
          <a:prstGeom prst="roundRect">
            <a:avLst>
              <a:gd fmla="val 15000" name="adj"/>
            </a:avLst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1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1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MapReduce incremental: al modificar un manco, CouchDB recalcula solo lo afectado, no toda la base.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0F2E"/>
        </a:solid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2"/>
          <p:cNvSpPr/>
          <p:nvPr/>
        </p:nvSpPr>
        <p:spPr>
          <a:xfrm>
            <a:off x="11064240" y="274320"/>
            <a:ext cx="822960" cy="292608"/>
          </a:xfrm>
          <a:prstGeom prst="roundRect">
            <a:avLst>
              <a:gd fmla="val 50000" name="adj"/>
            </a:avLst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12"/>
          <p:cNvSpPr/>
          <p:nvPr/>
        </p:nvSpPr>
        <p:spPr>
          <a:xfrm>
            <a:off x="11064240" y="274320"/>
            <a:ext cx="822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12 / 14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2"/>
          <p:cNvSpPr/>
          <p:nvPr/>
        </p:nvSpPr>
        <p:spPr>
          <a:xfrm>
            <a:off x="548640" y="365760"/>
            <a:ext cx="457200" cy="457200"/>
          </a:xfrm>
          <a:prstGeom prst="ellipse">
            <a:avLst/>
          </a:prstGeom>
          <a:solidFill>
            <a:srgbClr val="00D9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12"/>
          <p:cNvSpPr/>
          <p:nvPr/>
        </p:nvSpPr>
        <p:spPr>
          <a:xfrm>
            <a:off x="548640" y="3657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2"/>
          <p:cNvSpPr/>
          <p:nvPr/>
        </p:nvSpPr>
        <p:spPr>
          <a:xfrm>
            <a:off x="1188720" y="36576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D9FF"/>
                </a:solidFill>
                <a:latin typeface="Calibri"/>
                <a:ea typeface="Calibri"/>
                <a:cs typeface="Calibri"/>
                <a:sym typeface="Calibri"/>
              </a:rPr>
              <a:t>Bloque 4 · Conclusiones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2"/>
          <p:cNvSpPr/>
          <p:nvPr/>
        </p:nvSpPr>
        <p:spPr>
          <a:xfrm>
            <a:off x="731520" y="100584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 que nos llevamos del proyecto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2"/>
          <p:cNvSpPr/>
          <p:nvPr/>
        </p:nvSpPr>
        <p:spPr>
          <a:xfrm>
            <a:off x="320040" y="2194560"/>
            <a:ext cx="3657600" cy="3657600"/>
          </a:xfrm>
          <a:prstGeom prst="roundRect">
            <a:avLst>
              <a:gd fmla="val 3000" name="adj"/>
            </a:avLst>
          </a:prstGeom>
          <a:solidFill>
            <a:srgbClr val="2A1B4A"/>
          </a:solidFill>
          <a:ln cap="flat" cmpd="sng" w="25400">
            <a:solidFill>
              <a:srgbClr val="00D9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2"/>
          <p:cNvSpPr/>
          <p:nvPr/>
        </p:nvSpPr>
        <p:spPr>
          <a:xfrm>
            <a:off x="594360" y="237744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5600"/>
              <a:buFont typeface="Calibri"/>
              <a:buNone/>
            </a:pPr>
            <a:r>
              <a:rPr b="1" i="0" lang="en-US" sz="5600" u="none" cap="none" strike="noStrike">
                <a:solidFill>
                  <a:srgbClr val="00D9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5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2"/>
          <p:cNvSpPr/>
          <p:nvPr/>
        </p:nvSpPr>
        <p:spPr>
          <a:xfrm>
            <a:off x="594360" y="3474720"/>
            <a:ext cx="640080" cy="45720"/>
          </a:xfrm>
          <a:prstGeom prst="rect">
            <a:avLst/>
          </a:prstGeom>
          <a:solidFill>
            <a:srgbClr val="00D9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12"/>
          <p:cNvSpPr/>
          <p:nvPr/>
        </p:nvSpPr>
        <p:spPr>
          <a:xfrm>
            <a:off x="594360" y="3611880"/>
            <a:ext cx="3108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Calibri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NoSQL no es SQL peor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2"/>
          <p:cNvSpPr/>
          <p:nvPr/>
        </p:nvSpPr>
        <p:spPr>
          <a:xfrm>
            <a:off x="594360" y="4297680"/>
            <a:ext cx="31089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A8E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B8A8E8"/>
                </a:solidFill>
                <a:latin typeface="Calibri"/>
                <a:ea typeface="Calibri"/>
                <a:cs typeface="Calibri"/>
                <a:sym typeface="Calibri"/>
              </a:rPr>
              <a:t>Es una filosofía distinta. CouchDB no obliga a normalizar, pero exige pensar bien el modelo desde el día uno.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2"/>
          <p:cNvSpPr/>
          <p:nvPr/>
        </p:nvSpPr>
        <p:spPr>
          <a:xfrm>
            <a:off x="4251960" y="2194560"/>
            <a:ext cx="3657600" cy="3657600"/>
          </a:xfrm>
          <a:prstGeom prst="roundRect">
            <a:avLst>
              <a:gd fmla="val 3000" name="adj"/>
            </a:avLst>
          </a:prstGeom>
          <a:solidFill>
            <a:srgbClr val="2A1B4A"/>
          </a:solidFill>
          <a:ln cap="flat" cmpd="sng" w="254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12"/>
          <p:cNvSpPr/>
          <p:nvPr/>
        </p:nvSpPr>
        <p:spPr>
          <a:xfrm>
            <a:off x="4526280" y="237744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5CF6"/>
              </a:buClr>
              <a:buSzPts val="5600"/>
              <a:buFont typeface="Calibri"/>
              <a:buNone/>
            </a:pPr>
            <a:r>
              <a:rPr b="1" i="0" lang="en-US" sz="5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5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2"/>
          <p:cNvSpPr/>
          <p:nvPr/>
        </p:nvSpPr>
        <p:spPr>
          <a:xfrm>
            <a:off x="4526280" y="3474720"/>
            <a:ext cx="64008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12"/>
          <p:cNvSpPr/>
          <p:nvPr/>
        </p:nvSpPr>
        <p:spPr>
          <a:xfrm>
            <a:off x="4526280" y="3611880"/>
            <a:ext cx="3108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Calibri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_rev es sagrado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2"/>
          <p:cNvSpPr/>
          <p:nvPr/>
        </p:nvSpPr>
        <p:spPr>
          <a:xfrm>
            <a:off x="4526280" y="4297680"/>
            <a:ext cx="31089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A8E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B8A8E8"/>
                </a:solidFill>
                <a:latin typeface="Calibri"/>
                <a:ea typeface="Calibri"/>
                <a:cs typeface="Calibri"/>
                <a:sym typeface="Calibri"/>
              </a:rPr>
              <a:t>Lo que más nos costó: entender que toda actualización exige el _rev actual. Es MVCC, no es un bug, es una garantía.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2"/>
          <p:cNvSpPr/>
          <p:nvPr/>
        </p:nvSpPr>
        <p:spPr>
          <a:xfrm>
            <a:off x="8183880" y="2194560"/>
            <a:ext cx="3657600" cy="3657600"/>
          </a:xfrm>
          <a:prstGeom prst="roundRect">
            <a:avLst>
              <a:gd fmla="val 3000" name="adj"/>
            </a:avLst>
          </a:prstGeom>
          <a:solidFill>
            <a:srgbClr val="2A1B4A"/>
          </a:solidFill>
          <a:ln cap="flat" cmpd="sng" w="25400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12"/>
          <p:cNvSpPr/>
          <p:nvPr/>
        </p:nvSpPr>
        <p:spPr>
          <a:xfrm>
            <a:off x="8458200" y="237744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5600"/>
              <a:buFont typeface="Calibri"/>
              <a:buNone/>
            </a:pPr>
            <a:r>
              <a:rPr b="1" i="0" lang="en-US" sz="5600" u="none" cap="none" strike="noStrike">
                <a:solidFill>
                  <a:srgbClr val="FF6B35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5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2"/>
          <p:cNvSpPr/>
          <p:nvPr/>
        </p:nvSpPr>
        <p:spPr>
          <a:xfrm>
            <a:off x="8458200" y="3474720"/>
            <a:ext cx="640080" cy="45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12"/>
          <p:cNvSpPr/>
          <p:nvPr/>
        </p:nvSpPr>
        <p:spPr>
          <a:xfrm>
            <a:off x="8458200" y="3611880"/>
            <a:ext cx="3108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Calibri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Docker hace milagros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2"/>
          <p:cNvSpPr/>
          <p:nvPr/>
        </p:nvSpPr>
        <p:spPr>
          <a:xfrm>
            <a:off x="8458200" y="4297680"/>
            <a:ext cx="31089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A8E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B8A8E8"/>
                </a:solidFill>
                <a:latin typeface="Calibri"/>
                <a:ea typeface="Calibri"/>
                <a:cs typeface="Calibri"/>
                <a:sym typeface="Calibri"/>
              </a:rPr>
              <a:t>Levantar la base de datos en un comando. Si algo se rompe, se borra el contenedor y se vuelve a crear. Productivo desde el minuto cero.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2FF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3"/>
          <p:cNvSpPr/>
          <p:nvPr/>
        </p:nvSpPr>
        <p:spPr>
          <a:xfrm>
            <a:off x="11064240" y="274320"/>
            <a:ext cx="822960" cy="292608"/>
          </a:xfrm>
          <a:prstGeom prst="roundRect">
            <a:avLst>
              <a:gd fmla="val 50000" name="adj"/>
            </a:avLst>
          </a:prstGeom>
          <a:solidFill>
            <a:srgbClr val="1A0F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13"/>
          <p:cNvSpPr/>
          <p:nvPr/>
        </p:nvSpPr>
        <p:spPr>
          <a:xfrm>
            <a:off x="11064240" y="274320"/>
            <a:ext cx="822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13 / 14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3"/>
          <p:cNvSpPr/>
          <p:nvPr/>
        </p:nvSpPr>
        <p:spPr>
          <a:xfrm>
            <a:off x="548640" y="365760"/>
            <a:ext cx="457200" cy="457200"/>
          </a:xfrm>
          <a:prstGeom prst="ellipse">
            <a:avLst/>
          </a:prstGeom>
          <a:solidFill>
            <a:srgbClr val="00D9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13"/>
          <p:cNvSpPr/>
          <p:nvPr/>
        </p:nvSpPr>
        <p:spPr>
          <a:xfrm>
            <a:off x="548640" y="3657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3"/>
          <p:cNvSpPr/>
          <p:nvPr/>
        </p:nvSpPr>
        <p:spPr>
          <a:xfrm>
            <a:off x="1188720" y="36576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5CF6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Bloque 4 · Conclusiones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3"/>
          <p:cNvSpPr/>
          <p:nvPr/>
        </p:nvSpPr>
        <p:spPr>
          <a:xfrm>
            <a:off x="731520" y="100584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0F2E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1A0F2E"/>
                </a:solidFill>
                <a:latin typeface="Calibri"/>
                <a:ea typeface="Calibri"/>
                <a:cs typeface="Calibri"/>
                <a:sym typeface="Calibri"/>
              </a:rPr>
              <a:t>¿Cuándo usar CouchDB?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3"/>
          <p:cNvSpPr/>
          <p:nvPr/>
        </p:nvSpPr>
        <p:spPr>
          <a:xfrm>
            <a:off x="731520" y="2011680"/>
            <a:ext cx="5349240" cy="4297680"/>
          </a:xfrm>
          <a:prstGeom prst="roundRect">
            <a:avLst>
              <a:gd fmla="val 2553" name="adj"/>
            </a:avLst>
          </a:prstGeom>
          <a:solidFill>
            <a:srgbClr val="FFFFFF"/>
          </a:solidFill>
          <a:ln cap="flat" cmpd="sng" w="2540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13"/>
          <p:cNvSpPr/>
          <p:nvPr/>
        </p:nvSpPr>
        <p:spPr>
          <a:xfrm>
            <a:off x="731520" y="2011680"/>
            <a:ext cx="5349240" cy="640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13"/>
          <p:cNvSpPr/>
          <p:nvPr/>
        </p:nvSpPr>
        <p:spPr>
          <a:xfrm>
            <a:off x="731520" y="2011680"/>
            <a:ext cx="5349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✓  IDEAL PARA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3"/>
          <p:cNvSpPr/>
          <p:nvPr/>
        </p:nvSpPr>
        <p:spPr>
          <a:xfrm>
            <a:off x="914400" y="2834640"/>
            <a:ext cx="502920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A0F2E"/>
              </a:buClr>
              <a:buSzPts val="1600"/>
              <a:buFont typeface="Calibri"/>
              <a:buChar char="•"/>
            </a:pPr>
            <a:r>
              <a:rPr b="1" i="0" lang="en-US" sz="1600" u="none" cap="none" strike="noStrike">
                <a:solidFill>
                  <a:srgbClr val="1A0F2E"/>
                </a:solidFill>
                <a:latin typeface="Calibri"/>
                <a:ea typeface="Calibri"/>
                <a:cs typeface="Calibri"/>
                <a:sym typeface="Calibri"/>
              </a:rPr>
              <a:t>Aplicaciones offline-first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6B658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B6580"/>
                </a:solidFill>
                <a:latin typeface="Calibri"/>
                <a:ea typeface="Calibri"/>
                <a:cs typeface="Calibri"/>
                <a:sym typeface="Calibri"/>
              </a:rPr>
              <a:t>El usuario sigue trabajando sin conexión y sincroniza al volver.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1A0F2E"/>
              </a:buClr>
              <a:buSzPts val="1600"/>
              <a:buFont typeface="Calibri"/>
              <a:buChar char="•"/>
            </a:pPr>
            <a:r>
              <a:rPr b="1" i="0" lang="en-US" sz="1600" u="none" cap="none" strike="noStrike">
                <a:solidFill>
                  <a:srgbClr val="1A0F2E"/>
                </a:solidFill>
                <a:latin typeface="Calibri"/>
                <a:ea typeface="Calibri"/>
                <a:cs typeface="Calibri"/>
                <a:sym typeface="Calibri"/>
              </a:rPr>
              <a:t>Datos heterogéneos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6B658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B6580"/>
                </a:solidFill>
                <a:latin typeface="Calibri"/>
                <a:ea typeface="Calibri"/>
                <a:cs typeface="Calibri"/>
                <a:sym typeface="Calibri"/>
              </a:rPr>
              <a:t>Cada documento puede tener campos distintos sin migraciones.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1A0F2E"/>
              </a:buClr>
              <a:buSzPts val="1600"/>
              <a:buFont typeface="Calibri"/>
              <a:buChar char="•"/>
            </a:pPr>
            <a:r>
              <a:rPr b="1" i="0" lang="en-US" sz="1600" u="none" cap="none" strike="noStrike">
                <a:solidFill>
                  <a:srgbClr val="1A0F2E"/>
                </a:solidFill>
                <a:latin typeface="Calibri"/>
                <a:ea typeface="Calibri"/>
                <a:cs typeface="Calibri"/>
                <a:sym typeface="Calibri"/>
              </a:rPr>
              <a:t>Sincronización entre dispositivos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6B658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B6580"/>
                </a:solidFill>
                <a:latin typeface="Calibri"/>
                <a:ea typeface="Calibri"/>
                <a:cs typeface="Calibri"/>
                <a:sym typeface="Calibri"/>
              </a:rPr>
              <a:t>La replicación bidireccional es ciudadana de primera clase.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3"/>
          <p:cNvSpPr/>
          <p:nvPr/>
        </p:nvSpPr>
        <p:spPr>
          <a:xfrm>
            <a:off x="6263640" y="2011680"/>
            <a:ext cx="5166360" cy="4297680"/>
          </a:xfrm>
          <a:prstGeom prst="roundRect">
            <a:avLst>
              <a:gd fmla="val 2553" name="adj"/>
            </a:avLst>
          </a:prstGeom>
          <a:solidFill>
            <a:srgbClr val="FFFFFF"/>
          </a:solidFill>
          <a:ln cap="flat" cmpd="sng" w="254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13"/>
          <p:cNvSpPr/>
          <p:nvPr/>
        </p:nvSpPr>
        <p:spPr>
          <a:xfrm>
            <a:off x="6263640" y="2011680"/>
            <a:ext cx="5166360" cy="6400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13"/>
          <p:cNvSpPr/>
          <p:nvPr/>
        </p:nvSpPr>
        <p:spPr>
          <a:xfrm>
            <a:off x="6263640" y="2011680"/>
            <a:ext cx="51663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✗  EVITAR EN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3"/>
          <p:cNvSpPr/>
          <p:nvPr/>
        </p:nvSpPr>
        <p:spPr>
          <a:xfrm>
            <a:off x="6446520" y="2834640"/>
            <a:ext cx="484632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A0F2E"/>
              </a:buClr>
              <a:buSzPts val="1600"/>
              <a:buFont typeface="Calibri"/>
              <a:buChar char="•"/>
            </a:pPr>
            <a:r>
              <a:rPr b="1" i="0" lang="en-US" sz="1600" u="none" cap="none" strike="noStrike">
                <a:solidFill>
                  <a:srgbClr val="1A0F2E"/>
                </a:solidFill>
                <a:latin typeface="Calibri"/>
                <a:ea typeface="Calibri"/>
                <a:cs typeface="Calibri"/>
                <a:sym typeface="Calibri"/>
              </a:rPr>
              <a:t>Transacciones bancarias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6B658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B6580"/>
                </a:solidFill>
                <a:latin typeface="Calibri"/>
                <a:ea typeface="Calibri"/>
                <a:cs typeface="Calibri"/>
                <a:sym typeface="Calibri"/>
              </a:rPr>
              <a:t>La consistencia inmediata es innegociable. Aquí PostgreSQL gana.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1A0F2E"/>
              </a:buClr>
              <a:buSzPts val="1600"/>
              <a:buFont typeface="Calibri"/>
              <a:buChar char="•"/>
            </a:pPr>
            <a:r>
              <a:rPr b="1" i="0" lang="en-US" sz="1600" u="none" cap="none" strike="noStrike">
                <a:solidFill>
                  <a:srgbClr val="1A0F2E"/>
                </a:solidFill>
                <a:latin typeface="Calibri"/>
                <a:ea typeface="Calibri"/>
                <a:cs typeface="Calibri"/>
                <a:sym typeface="Calibri"/>
              </a:rPr>
              <a:t>Inventario en tiempo real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6B658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B6580"/>
                </a:solidFill>
                <a:latin typeface="Calibri"/>
                <a:ea typeface="Calibri"/>
                <a:cs typeface="Calibri"/>
                <a:sym typeface="Calibri"/>
              </a:rPr>
              <a:t>No puedes vender la misma plaza dos veces; necesitas locks reales.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1A0F2E"/>
              </a:buClr>
              <a:buSzPts val="1600"/>
              <a:buFont typeface="Calibri"/>
              <a:buChar char="•"/>
            </a:pPr>
            <a:r>
              <a:rPr b="1" i="0" lang="en-US" sz="1600" u="none" cap="none" strike="noStrike">
                <a:solidFill>
                  <a:srgbClr val="1A0F2E"/>
                </a:solidFill>
                <a:latin typeface="Calibri"/>
                <a:ea typeface="Calibri"/>
                <a:cs typeface="Calibri"/>
                <a:sym typeface="Calibri"/>
              </a:rPr>
              <a:t>Joins complejos y reportes SQL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6B658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B6580"/>
                </a:solidFill>
                <a:latin typeface="Calibri"/>
                <a:ea typeface="Calibri"/>
                <a:cs typeface="Calibri"/>
                <a:sym typeface="Calibri"/>
              </a:rPr>
              <a:t>Si el modelo es relacional puro, ir contra la corriente sale caro.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0F2E"/>
        </a:solidFill>
      </p:bgPr>
    </p:bg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4"/>
          <p:cNvSpPr/>
          <p:nvPr/>
        </p:nvSpPr>
        <p:spPr>
          <a:xfrm>
            <a:off x="11064240" y="274320"/>
            <a:ext cx="822960" cy="292608"/>
          </a:xfrm>
          <a:prstGeom prst="roundRect">
            <a:avLst>
              <a:gd fmla="val 50000" name="adj"/>
            </a:avLst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4"/>
          <p:cNvSpPr/>
          <p:nvPr/>
        </p:nvSpPr>
        <p:spPr>
          <a:xfrm>
            <a:off x="11064240" y="274320"/>
            <a:ext cx="822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14 / 14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4"/>
          <p:cNvSpPr/>
          <p:nvPr/>
        </p:nvSpPr>
        <p:spPr>
          <a:xfrm>
            <a:off x="731520" y="2103120"/>
            <a:ext cx="109728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600"/>
              <a:buFont typeface="Calibri"/>
              <a:buNone/>
            </a:pPr>
            <a:r>
              <a:rPr b="1" lang="en-US" sz="9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FIN</a:t>
            </a:r>
            <a:endParaRPr b="0" i="0" sz="9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4"/>
          <p:cNvSpPr/>
          <p:nvPr/>
        </p:nvSpPr>
        <p:spPr>
          <a:xfrm>
            <a:off x="4983480" y="3749040"/>
            <a:ext cx="2194560" cy="54864"/>
          </a:xfrm>
          <a:prstGeom prst="rect">
            <a:avLst/>
          </a:prstGeom>
          <a:solidFill>
            <a:srgbClr val="00D9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14"/>
          <p:cNvSpPr/>
          <p:nvPr/>
        </p:nvSpPr>
        <p:spPr>
          <a:xfrm>
            <a:off x="731520" y="40233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00D9FF"/>
                </a:solidFill>
                <a:latin typeface="Calibri"/>
                <a:ea typeface="Calibri"/>
                <a:cs typeface="Calibri"/>
                <a:sym typeface="Calibri"/>
              </a:rPr>
              <a:t>Gracias por vuestra atención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4"/>
          <p:cNvSpPr/>
          <p:nvPr/>
        </p:nvSpPr>
        <p:spPr>
          <a:xfrm>
            <a:off x="731520" y="502920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David  </a:t>
            </a:r>
            <a:r>
              <a:rPr b="0" i="0" lang="en-US" sz="1600" u="none" cap="none" strike="noStrike">
                <a:solidFill>
                  <a:srgbClr val="B8A8E8"/>
                </a:solidFill>
                <a:latin typeface="Calibri"/>
                <a:ea typeface="Calibri"/>
                <a:cs typeface="Calibri"/>
                <a:sym typeface="Calibri"/>
              </a:rPr>
              <a:t>&amp;  </a:t>
            </a: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Ancor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4"/>
          <p:cNvSpPr/>
          <p:nvPr/>
        </p:nvSpPr>
        <p:spPr>
          <a:xfrm>
            <a:off x="731520" y="56692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6580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6B6580"/>
                </a:solidFill>
                <a:latin typeface="Calibri"/>
                <a:ea typeface="Calibri"/>
                <a:cs typeface="Calibri"/>
                <a:sym typeface="Calibri"/>
              </a:rPr>
              <a:t>Proyecto El Desafío NoSQL  ·  CouchDB + Flutter  ·  CIFP Villa de Agüimes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2026-05-04T21:46:06Z</dcterms:created>
  <dc:creator>David &amp; Ancor</dc:creator>
</cp:coreProperties>
</file>